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EBF5"/>
    <a:srgbClr val="CEF7BE"/>
    <a:srgbClr val="F2D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0312A-C996-6490-9673-D00BBAD0D7F1}" v="740" dt="2025-08-04T05:29:45.483"/>
    <p1510:client id="{AA752145-D82C-C290-3878-FC72FBE3FA79}" v="5915" dt="2025-08-04T07:31:22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133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148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9283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142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9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8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34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261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341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774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6690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8/3/2025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35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nkwon1252/2025_SRT_AI_Politic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993787" y="668049"/>
            <a:ext cx="6201379" cy="26244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4400" b="1"/>
              <a:t>SRT AI Session Game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10814" y="3428999"/>
            <a:ext cx="7774314" cy="2747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2000">
              <a:ea typeface="Microsoft GothicNeo"/>
              <a:cs typeface="Microsoft GothicNeo"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2000">
              <a:ea typeface="Microsoft GothicNeo"/>
              <a:cs typeface="Microsoft GothicNeo"/>
            </a:endParaRPr>
          </a:p>
          <a:p>
            <a:pPr algn="ctr">
              <a:lnSpc>
                <a:spcPct val="90000"/>
              </a:lnSpc>
            </a:pPr>
            <a:r>
              <a:rPr lang="en-US" altLang="ko-KR" sz="2000" dirty="0"/>
              <a:t>Min Kwon, </a:t>
            </a:r>
            <a:r>
              <a:rPr lang="en-US" altLang="ko-KR" dirty="0"/>
              <a:t>minkwon@snu.ac.kr</a:t>
            </a:r>
            <a:endParaRPr lang="en-US" altLang="ko-KR" sz="2000" dirty="0">
              <a:ea typeface="Microsoft GothicNeo"/>
              <a:cs typeface="Microsoft GothicNeo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lnSpc>
                <a:spcPct val="90000"/>
              </a:lnSpc>
            </a:pPr>
            <a:r>
              <a:rPr lang="en-US" altLang="ko-KR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https://github.com/minkwon1252/2025_SRT_AI_Politics</a:t>
            </a:r>
            <a:endParaRPr lang="en-US" altLang="ko-KR" sz="2000">
              <a:ea typeface="Microsoft GothicNeo"/>
              <a:cs typeface="Microsoft GothicNeo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sz="2000"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73911E-9BB6-6440-078D-1FD119CBE696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 err="1"/>
              <a:t>Game</a:t>
            </a:r>
            <a:r>
              <a:rPr lang="ko-KR" altLang="en-US" sz="2400" b="1" dirty="0"/>
              <a:t> </a:t>
            </a:r>
            <a:r>
              <a:rPr lang="ko-KR" altLang="en-US" sz="2400" b="1" err="1"/>
              <a:t>Objective</a:t>
            </a:r>
            <a:r>
              <a:rPr lang="ko-KR" altLang="en-US" sz="2400" b="1" dirty="0"/>
              <a:t> &amp; </a:t>
            </a:r>
            <a:r>
              <a:rPr lang="ko-KR" altLang="en-US" sz="2400" b="1" err="1"/>
              <a:t>Flow</a:t>
            </a:r>
            <a:endParaRPr lang="ko-KR" altLang="en-US" sz="2400" b="1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BF9428F-8589-FFC0-644D-F7FE682EC404}"/>
              </a:ext>
            </a:extLst>
          </p:cNvPr>
          <p:cNvCxnSpPr/>
          <p:nvPr/>
        </p:nvCxnSpPr>
        <p:spPr>
          <a:xfrm flipH="1">
            <a:off x="7913858" y="1695947"/>
            <a:ext cx="16521" cy="42730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7C16A2-BDC7-BE03-CC26-20670B3D8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24" y="2031085"/>
            <a:ext cx="559266" cy="5732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C86EEA6-18BE-4F7E-794E-444F126CB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98" y="3094826"/>
            <a:ext cx="1562449" cy="193473"/>
          </a:xfrm>
          <a:prstGeom prst="rect">
            <a:avLst/>
          </a:prstGeom>
        </p:spPr>
      </p:pic>
      <p:pic>
        <p:nvPicPr>
          <p:cNvPr id="11" name="그림 10" descr="그래픽, 그래픽 디자인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83EB7E-93FA-CFB7-B909-90AF93C82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20000">
            <a:off x="1390895" y="2383511"/>
            <a:ext cx="1198228" cy="44793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CED904-FFBF-DE04-C26E-32C2A2C9FF60}"/>
              </a:ext>
            </a:extLst>
          </p:cNvPr>
          <p:cNvSpPr/>
          <p:nvPr/>
        </p:nvSpPr>
        <p:spPr>
          <a:xfrm>
            <a:off x="749969" y="1809644"/>
            <a:ext cx="1998760" cy="16691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F3E4B8-B8D2-C8F0-5B7F-6CA006148EF2}"/>
              </a:ext>
            </a:extLst>
          </p:cNvPr>
          <p:cNvSpPr txBox="1"/>
          <p:nvPr/>
        </p:nvSpPr>
        <p:spPr>
          <a:xfrm>
            <a:off x="748246" y="1422111"/>
            <a:ext cx="1671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>
                <a:latin typeface="Univers Condensed"/>
              </a:rPr>
              <a:t>AI </a:t>
            </a:r>
            <a:r>
              <a:rPr lang="ko-KR" altLang="en-US" b="1" err="1">
                <a:latin typeface="Univers Condensed"/>
              </a:rPr>
              <a:t>Models</a:t>
            </a:r>
            <a:endParaRPr lang="ko-KR" altLang="en-US" b="1">
              <a:latin typeface="Univers Condense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637F2-1C1F-A311-0640-2E8CD4DEBCB8}"/>
              </a:ext>
            </a:extLst>
          </p:cNvPr>
          <p:cNvSpPr txBox="1"/>
          <p:nvPr/>
        </p:nvSpPr>
        <p:spPr>
          <a:xfrm>
            <a:off x="7688289" y="1146450"/>
            <a:ext cx="6505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 dirty="0" err="1">
                <a:latin typeface="Univers Condensed"/>
              </a:rPr>
              <a:t>vs</a:t>
            </a:r>
            <a:r>
              <a:rPr lang="ko-KR" altLang="en-US" sz="2400" b="1" dirty="0">
                <a:latin typeface="Univers Condense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E86459-5657-C7A5-C219-E10F1FA451DC}"/>
              </a:ext>
            </a:extLst>
          </p:cNvPr>
          <p:cNvSpPr txBox="1"/>
          <p:nvPr/>
        </p:nvSpPr>
        <p:spPr>
          <a:xfrm>
            <a:off x="4874007" y="1146450"/>
            <a:ext cx="38733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 dirty="0">
                <a:latin typeface="Univers Condensed"/>
              </a:rPr>
              <a:t>SRT</a:t>
            </a:r>
            <a:endParaRPr lang="ko-KR" altLang="en-US" sz="1050" b="1">
              <a:latin typeface="Univers Condense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5D4007-D0F6-C361-1635-558921733736}"/>
              </a:ext>
            </a:extLst>
          </p:cNvPr>
          <p:cNvSpPr txBox="1"/>
          <p:nvPr/>
        </p:nvSpPr>
        <p:spPr>
          <a:xfrm>
            <a:off x="9072472" y="1146451"/>
            <a:ext cx="1678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 dirty="0">
                <a:latin typeface="Univers Condensed"/>
              </a:rPr>
              <a:t>US, </a:t>
            </a:r>
            <a:r>
              <a:rPr lang="ko-KR" altLang="en-US" sz="2400" b="1" err="1">
                <a:latin typeface="Univers Condensed"/>
              </a:rPr>
              <a:t>China</a:t>
            </a:r>
            <a:endParaRPr lang="ko-KR" altLang="en-US" sz="2400" b="1">
              <a:latin typeface="Univers Condense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3CB7E4-BE38-6D95-DC39-CCEE02C5182D}"/>
              </a:ext>
            </a:extLst>
          </p:cNvPr>
          <p:cNvSpPr txBox="1"/>
          <p:nvPr/>
        </p:nvSpPr>
        <p:spPr>
          <a:xfrm>
            <a:off x="751099" y="6315334"/>
            <a:ext cx="86538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err="1">
                <a:latin typeface="Univers Condensed"/>
                <a:ea typeface="Malgun Gothic"/>
                <a:cs typeface="+mn-lt"/>
              </a:rPr>
              <a:t>Secure</a:t>
            </a:r>
            <a:r>
              <a:rPr lang="ko-KR" dirty="0">
                <a:latin typeface="Univers Condensed"/>
                <a:ea typeface="Malgun Gothic"/>
                <a:cs typeface="+mn-lt"/>
              </a:rPr>
              <a:t> </a:t>
            </a:r>
            <a:r>
              <a:rPr lang="ko-KR" err="1">
                <a:latin typeface="Univers Condensed"/>
                <a:ea typeface="Malgun Gothic"/>
                <a:cs typeface="+mn-lt"/>
              </a:rPr>
              <a:t>your</a:t>
            </a:r>
            <a:r>
              <a:rPr lang="ko-KR" dirty="0">
                <a:latin typeface="Univers Condensed"/>
                <a:ea typeface="Malgun Gothic"/>
                <a:cs typeface="+mn-lt"/>
              </a:rPr>
              <a:t> </a:t>
            </a:r>
            <a:r>
              <a:rPr lang="ko-KR" err="1">
                <a:latin typeface="Univers Condensed"/>
                <a:ea typeface="Malgun Gothic"/>
                <a:cs typeface="+mn-lt"/>
              </a:rPr>
              <a:t>country’s</a:t>
            </a:r>
            <a:r>
              <a:rPr lang="ko-KR" dirty="0">
                <a:latin typeface="Univers Condensed"/>
                <a:ea typeface="Malgun Gothic"/>
                <a:cs typeface="+mn-lt"/>
              </a:rPr>
              <a:t> </a:t>
            </a:r>
            <a:r>
              <a:rPr lang="ko-KR" err="1">
                <a:latin typeface="Univers Condensed"/>
                <a:ea typeface="Malgun Gothic"/>
                <a:cs typeface="+mn-lt"/>
              </a:rPr>
              <a:t>success</a:t>
            </a:r>
            <a:r>
              <a:rPr lang="ko-KR" dirty="0">
                <a:latin typeface="Univers Condensed"/>
                <a:ea typeface="Malgun Gothic"/>
                <a:cs typeface="+mn-lt"/>
              </a:rPr>
              <a:t> </a:t>
            </a:r>
            <a:r>
              <a:rPr lang="ko-KR" err="1">
                <a:latin typeface="Univers Condensed"/>
                <a:ea typeface="Malgun Gothic"/>
                <a:cs typeface="+mn-lt"/>
              </a:rPr>
              <a:t>in</a:t>
            </a:r>
            <a:r>
              <a:rPr lang="ko-KR" dirty="0">
                <a:latin typeface="Univers Condensed"/>
                <a:ea typeface="Malgun Gothic"/>
                <a:cs typeface="+mn-lt"/>
              </a:rPr>
              <a:t> AI </a:t>
            </a:r>
            <a:r>
              <a:rPr lang="ko-KR" err="1">
                <a:latin typeface="Univers Condensed"/>
                <a:ea typeface="Malgun Gothic"/>
                <a:cs typeface="+mn-lt"/>
              </a:rPr>
              <a:t>development</a:t>
            </a:r>
            <a:r>
              <a:rPr lang="ko-KR" dirty="0">
                <a:latin typeface="Univers Condensed"/>
                <a:ea typeface="Malgun Gothic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+</a:t>
            </a:r>
            <a:r>
              <a:rPr lang="ko-KR" altLang="en-US" dirty="0">
                <a:latin typeface="Univers Condensed"/>
                <a:ea typeface="Malgun Gothic"/>
                <a:cs typeface="+mn-lt"/>
              </a:rPr>
              <a:t> </a:t>
            </a:r>
            <a:r>
              <a:rPr lang="ko-KR" altLang="en-US" err="1">
                <a:latin typeface="Univers Condensed"/>
                <a:ea typeface="Malgun Gothic"/>
                <a:cs typeface="+mn-lt"/>
              </a:rPr>
              <a:t>Catch</a:t>
            </a:r>
            <a:r>
              <a:rPr lang="ko-KR" altLang="en-US" dirty="0">
                <a:latin typeface="Univers Condensed"/>
                <a:ea typeface="Malgun Gothic"/>
                <a:cs typeface="+mn-lt"/>
              </a:rPr>
              <a:t> </a:t>
            </a:r>
            <a:r>
              <a:rPr lang="ko-KR" altLang="en-US" err="1">
                <a:latin typeface="Univers Condensed"/>
                <a:ea typeface="Malgun Gothic"/>
                <a:cs typeface="+mn-lt"/>
              </a:rPr>
              <a:t>up</a:t>
            </a:r>
            <a:r>
              <a:rPr lang="ko-KR" altLang="en-US" dirty="0">
                <a:latin typeface="Univers Condensed"/>
                <a:ea typeface="Malgun Gothic"/>
                <a:cs typeface="+mn-lt"/>
              </a:rPr>
              <a:t> US and </a:t>
            </a:r>
            <a:r>
              <a:rPr lang="ko-KR" altLang="en-US" err="1">
                <a:latin typeface="Univers Condensed"/>
                <a:ea typeface="Malgun Gothic"/>
                <a:cs typeface="+mn-lt"/>
              </a:rPr>
              <a:t>China</a:t>
            </a:r>
            <a:r>
              <a:rPr lang="ko-KR" altLang="en-US" dirty="0">
                <a:latin typeface="Univers Condensed"/>
                <a:ea typeface="Malgun Gothic"/>
                <a:cs typeface="+mn-lt"/>
              </a:rPr>
              <a:t> </a:t>
            </a:r>
            <a:r>
              <a:rPr lang="ko-KR" altLang="en-US" err="1">
                <a:latin typeface="Univers Condensed"/>
                <a:ea typeface="Malgun Gothic"/>
                <a:cs typeface="+mn-lt"/>
              </a:rPr>
              <a:t>by</a:t>
            </a:r>
            <a:r>
              <a:rPr lang="ko-KR" altLang="en-US" dirty="0">
                <a:latin typeface="Univers Condensed"/>
                <a:ea typeface="Malgun Gothic"/>
                <a:cs typeface="+mn-lt"/>
              </a:rPr>
              <a:t> </a:t>
            </a:r>
            <a:r>
              <a:rPr lang="ko-KR" altLang="en-US" err="1">
                <a:latin typeface="Univers Condensed"/>
                <a:ea typeface="Malgun Gothic"/>
                <a:cs typeface="+mn-lt"/>
              </a:rPr>
              <a:t>cooperation</a:t>
            </a:r>
            <a:endParaRPr lang="ko-KR">
              <a:latin typeface="Univers Condensed"/>
              <a:ea typeface="Malgun Gothic"/>
              <a:cs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508E38-200E-6E58-8C61-A7A4253BE684}"/>
              </a:ext>
            </a:extLst>
          </p:cNvPr>
          <p:cNvSpPr txBox="1"/>
          <p:nvPr/>
        </p:nvSpPr>
        <p:spPr>
          <a:xfrm>
            <a:off x="757363" y="3737473"/>
            <a:ext cx="1671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>
                <a:latin typeface="Univers Condensed"/>
              </a:rPr>
              <a:t>AI </a:t>
            </a:r>
            <a:r>
              <a:rPr lang="ko-KR" altLang="en-US" b="1" dirty="0" err="1">
                <a:latin typeface="Univers Condensed"/>
              </a:rPr>
              <a:t>Papers</a:t>
            </a:r>
            <a:endParaRPr lang="ko-KR" altLang="en-US" b="1" dirty="0">
              <a:latin typeface="Univers Condensed"/>
            </a:endParaRPr>
          </a:p>
        </p:txBody>
      </p:sp>
      <p:pic>
        <p:nvPicPr>
          <p:cNvPr id="24" name="그림 23" descr="텍스트, 폰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94296A-F8E1-1EC6-3DD6-EAFDA6026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38" y="4202495"/>
            <a:ext cx="1897923" cy="243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2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B5A544-9F2F-4D57-7065-9C9387736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95" y="4644666"/>
            <a:ext cx="1974821" cy="2570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B7C7D2-939B-1C1B-7050-9FA058A1A5DD}"/>
              </a:ext>
            </a:extLst>
          </p:cNvPr>
          <p:cNvSpPr/>
          <p:nvPr/>
        </p:nvSpPr>
        <p:spPr>
          <a:xfrm>
            <a:off x="749968" y="4075343"/>
            <a:ext cx="1998760" cy="16691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 descr="텍스트, 폰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12BC83-2686-FDDD-FE74-D2178B71C6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772" y="5073991"/>
            <a:ext cx="1862355" cy="1932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그림 28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BDFBD0-2A8C-7615-B65E-F3A6A29EE4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262" y="5464338"/>
            <a:ext cx="1864368" cy="1396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E783F8-F44D-D9A3-2980-B349DD326F55}"/>
              </a:ext>
            </a:extLst>
          </p:cNvPr>
          <p:cNvSpPr txBox="1"/>
          <p:nvPr/>
        </p:nvSpPr>
        <p:spPr>
          <a:xfrm>
            <a:off x="8087948" y="5659101"/>
            <a:ext cx="288340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latin typeface="Univers Condensed"/>
              </a:rPr>
              <a:t>*</a:t>
            </a:r>
            <a:r>
              <a:rPr lang="ko-KR" altLang="en-US" sz="1400" err="1">
                <a:latin typeface="Univers Condensed"/>
              </a:rPr>
              <a:t>Based</a:t>
            </a:r>
            <a:r>
              <a:rPr lang="ko-KR" altLang="en-US" sz="1400" dirty="0">
                <a:latin typeface="Univers Condensed"/>
              </a:rPr>
              <a:t> </a:t>
            </a:r>
            <a:r>
              <a:rPr lang="ko-KR" altLang="en-US" sz="1400" err="1">
                <a:latin typeface="Univers Condensed"/>
              </a:rPr>
              <a:t>on</a:t>
            </a:r>
            <a:r>
              <a:rPr lang="ko-KR" altLang="en-US" sz="1400" dirty="0">
                <a:latin typeface="Univers Condensed"/>
              </a:rPr>
              <a:t> </a:t>
            </a:r>
            <a:r>
              <a:rPr lang="ko-KR" altLang="en-US" sz="1400" err="1">
                <a:latin typeface="Univers Condensed"/>
              </a:rPr>
              <a:t>Stanford</a:t>
            </a:r>
            <a:r>
              <a:rPr lang="ko-KR" altLang="en-US" sz="1400" dirty="0">
                <a:latin typeface="Univers Condensed"/>
              </a:rPr>
              <a:t> HAI 2025 </a:t>
            </a:r>
            <a:r>
              <a:rPr lang="ko-KR" altLang="en-US" sz="1400" err="1">
                <a:latin typeface="Univers Condensed"/>
              </a:rPr>
              <a:t>report</a:t>
            </a:r>
            <a:r>
              <a:rPr lang="ko-KR" altLang="en-US" sz="1400" dirty="0">
                <a:latin typeface="Univers Condensed"/>
              </a:rPr>
              <a:t>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7CCA095-6463-9D94-978F-51752AA4C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551980"/>
              </p:ext>
            </p:extLst>
          </p:nvPr>
        </p:nvGraphicFramePr>
        <p:xfrm>
          <a:off x="3560064" y="1895856"/>
          <a:ext cx="4044132" cy="355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812">
                  <a:extLst>
                    <a:ext uri="{9D8B030D-6E8A-4147-A177-3AD203B41FA5}">
                      <a16:colId xmlns:a16="http://schemas.microsoft.com/office/drawing/2014/main" val="2684321607"/>
                    </a:ext>
                  </a:extLst>
                </a:gridCol>
                <a:gridCol w="1728345">
                  <a:extLst>
                    <a:ext uri="{9D8B030D-6E8A-4147-A177-3AD203B41FA5}">
                      <a16:colId xmlns:a16="http://schemas.microsoft.com/office/drawing/2014/main" val="1737912866"/>
                    </a:ext>
                  </a:extLst>
                </a:gridCol>
                <a:gridCol w="1570975">
                  <a:extLst>
                    <a:ext uri="{9D8B030D-6E8A-4147-A177-3AD203B41FA5}">
                      <a16:colId xmlns:a16="http://schemas.microsoft.com/office/drawing/2014/main" val="154206356"/>
                    </a:ext>
                  </a:extLst>
                </a:gridCol>
              </a:tblGrid>
              <a:tr h="71058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# of </a:t>
                      </a:r>
                      <a:r>
                        <a:rPr lang="ko-KR" altLang="en-US" err="1">
                          <a:latin typeface="Univers Condensed"/>
                        </a:rPr>
                        <a:t>notable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models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# of </a:t>
                      </a:r>
                      <a:r>
                        <a:rPr lang="ko-KR" altLang="en-US" err="1">
                          <a:latin typeface="Univers Condensed"/>
                        </a:rPr>
                        <a:t>notable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papers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59714848"/>
                  </a:ext>
                </a:extLst>
              </a:tr>
              <a:tr h="7105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KR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1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50959788"/>
                  </a:ext>
                </a:extLst>
              </a:tr>
              <a:tr h="7105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JP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90211712"/>
                  </a:ext>
                </a:extLst>
              </a:tr>
              <a:tr h="7105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TW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16379446"/>
                  </a:ext>
                </a:extLst>
              </a:tr>
              <a:tr h="7105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MN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1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267480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30E98146-CF72-AEA3-ED8D-BCBDEFAAD85E}"/>
              </a:ext>
            </a:extLst>
          </p:cNvPr>
          <p:cNvCxnSpPr>
            <a:cxnSpLocks/>
          </p:cNvCxnSpPr>
          <p:nvPr/>
        </p:nvCxnSpPr>
        <p:spPr>
          <a:xfrm flipH="1">
            <a:off x="3207745" y="860795"/>
            <a:ext cx="16521" cy="519968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2EF3535-9325-E8C1-F04A-C287B76D6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480875"/>
              </p:ext>
            </p:extLst>
          </p:nvPr>
        </p:nvGraphicFramePr>
        <p:xfrm>
          <a:off x="8089392" y="1932432"/>
          <a:ext cx="3375810" cy="213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26">
                  <a:extLst>
                    <a:ext uri="{9D8B030D-6E8A-4147-A177-3AD203B41FA5}">
                      <a16:colId xmlns:a16="http://schemas.microsoft.com/office/drawing/2014/main" val="2684321607"/>
                    </a:ext>
                  </a:extLst>
                </a:gridCol>
                <a:gridCol w="1442724">
                  <a:extLst>
                    <a:ext uri="{9D8B030D-6E8A-4147-A177-3AD203B41FA5}">
                      <a16:colId xmlns:a16="http://schemas.microsoft.com/office/drawing/2014/main" val="1737912866"/>
                    </a:ext>
                  </a:extLst>
                </a:gridCol>
                <a:gridCol w="1311360">
                  <a:extLst>
                    <a:ext uri="{9D8B030D-6E8A-4147-A177-3AD203B41FA5}">
                      <a16:colId xmlns:a16="http://schemas.microsoft.com/office/drawing/2014/main" val="154206356"/>
                    </a:ext>
                  </a:extLst>
                </a:gridCol>
              </a:tblGrid>
              <a:tr h="71058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# of </a:t>
                      </a:r>
                      <a:r>
                        <a:rPr lang="ko-KR" altLang="en-US" err="1">
                          <a:latin typeface="Univers Condensed"/>
                        </a:rPr>
                        <a:t>notable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models</a:t>
                      </a:r>
                      <a:endParaRPr lang="ko-KR" altLang="en-US" dirty="0" err="1">
                        <a:latin typeface="Univers Condensed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# of </a:t>
                      </a:r>
                      <a:r>
                        <a:rPr lang="ko-KR" altLang="en-US" err="1">
                          <a:latin typeface="Univers Condensed"/>
                        </a:rPr>
                        <a:t>notable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papers</a:t>
                      </a:r>
                      <a:endParaRPr lang="ko-KR" altLang="en-US" dirty="0" err="1">
                        <a:latin typeface="Univers Condensed"/>
                      </a:endParaRP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59714848"/>
                  </a:ext>
                </a:extLst>
              </a:tr>
              <a:tr h="7105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US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40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50959788"/>
                  </a:ext>
                </a:extLst>
              </a:tr>
              <a:tr h="7105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Univers Condensed"/>
                        </a:rPr>
                        <a:t>CN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2000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Univers Condensed"/>
                        </a:rPr>
                        <a:t>15</a:t>
                      </a:r>
                    </a:p>
                  </a:txBody>
                  <a:tcPr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21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16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47133-8973-3B0C-870C-E849A2809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706276-F319-5819-809E-F993D2E3E12B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 err="1"/>
              <a:t>Game</a:t>
            </a:r>
            <a:r>
              <a:rPr lang="ko-KR" altLang="en-US" sz="2400" b="1" dirty="0"/>
              <a:t> </a:t>
            </a:r>
            <a:r>
              <a:rPr lang="ko-KR" altLang="en-US" sz="2400" b="1" err="1"/>
              <a:t>Objective</a:t>
            </a:r>
            <a:r>
              <a:rPr lang="ko-KR" altLang="en-US" sz="2400" b="1" dirty="0"/>
              <a:t> &amp; </a:t>
            </a:r>
            <a:r>
              <a:rPr lang="ko-KR" altLang="en-US" sz="2400" b="1" err="1"/>
              <a:t>Flow</a:t>
            </a:r>
            <a:endParaRPr lang="ko-KR" altLang="en-US" sz="24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A3182D-A25B-5B4B-262B-9017A00487C2}"/>
              </a:ext>
            </a:extLst>
          </p:cNvPr>
          <p:cNvSpPr txBox="1"/>
          <p:nvPr/>
        </p:nvSpPr>
        <p:spPr>
          <a:xfrm>
            <a:off x="757783" y="6315334"/>
            <a:ext cx="109732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latin typeface="Univers Condensed"/>
                <a:ea typeface="Malgun Gothic"/>
                <a:cs typeface="+mn-lt"/>
              </a:rPr>
              <a:t>Login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altLang="ko-KR" dirty="0">
                <a:latin typeface="Univers Condensed"/>
                <a:ea typeface="Malgun Gothic"/>
                <a:cs typeface="+mn-lt"/>
              </a:rPr>
              <a:t>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( Round 1) Circumstance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 </a:t>
            </a:r>
            <a:r>
              <a:rPr lang="en-US" dirty="0">
                <a:latin typeface="Calisto MT"/>
                <a:ea typeface="Malgun Gothic"/>
                <a:cs typeface="+mn-lt"/>
              </a:rPr>
              <a:t>→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Policy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 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Cooperation (Negotiation) </a:t>
            </a:r>
            <a:r>
              <a:rPr lang="en-US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Events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 </a:t>
            </a:r>
            <a:r>
              <a:rPr lang="en-US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Summary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 </a:t>
            </a:r>
            <a:r>
              <a:rPr lang="en-US" dirty="0"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latin typeface="Calisto MT"/>
                <a:ea typeface="Malgun Gothic"/>
                <a:cs typeface="+mn-lt"/>
              </a:rPr>
              <a:t>→ </a:t>
            </a:r>
            <a:r>
              <a:rPr lang="en-US" altLang="ko-KR" dirty="0">
                <a:latin typeface="Univers Condensed"/>
                <a:ea typeface="Malgun Gothic"/>
                <a:cs typeface="+mn-lt"/>
              </a:rPr>
              <a:t>(Round 2)</a:t>
            </a:r>
            <a:endParaRPr lang="en-US" dirty="0">
              <a:latin typeface="Calisto MT"/>
              <a:ea typeface="Malgun Gothic"/>
              <a:cs typeface="+mn-lt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8A5881-C364-FF9D-B742-370CABD50467}"/>
              </a:ext>
            </a:extLst>
          </p:cNvPr>
          <p:cNvSpPr/>
          <p:nvPr/>
        </p:nvSpPr>
        <p:spPr>
          <a:xfrm>
            <a:off x="840464" y="1330315"/>
            <a:ext cx="1827050" cy="630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64F935-3930-28EE-5D6D-4C0A0B3CF0CD}"/>
              </a:ext>
            </a:extLst>
          </p:cNvPr>
          <p:cNvSpPr txBox="1"/>
          <p:nvPr/>
        </p:nvSpPr>
        <p:spPr>
          <a:xfrm>
            <a:off x="914138" y="1442074"/>
            <a:ext cx="16804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err="1">
                <a:latin typeface="Univers Condensed"/>
              </a:rPr>
              <a:t>Circumstance</a:t>
            </a:r>
            <a:endParaRPr lang="ko-KR" altLang="en-US" sz="2000">
              <a:latin typeface="Univers Condense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76C2FE-991D-69A9-64F9-EC77F5607DC7}"/>
              </a:ext>
            </a:extLst>
          </p:cNvPr>
          <p:cNvSpPr txBox="1"/>
          <p:nvPr/>
        </p:nvSpPr>
        <p:spPr>
          <a:xfrm>
            <a:off x="2734344" y="1320806"/>
            <a:ext cx="8585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 err="1">
                <a:ea typeface="+mn-lt"/>
                <a:cs typeface="+mn-lt"/>
              </a:rPr>
              <a:t>Determine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dirty="0" err="1">
                <a:ea typeface="+mn-lt"/>
                <a:cs typeface="+mn-lt"/>
              </a:rPr>
              <a:t>your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dirty="0" err="1">
                <a:ea typeface="+mn-lt"/>
                <a:cs typeface="+mn-lt"/>
              </a:rPr>
              <a:t>country's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b="1" dirty="0" err="1">
                <a:ea typeface="+mn-lt"/>
                <a:cs typeface="+mn-lt"/>
              </a:rPr>
              <a:t>domestic</a:t>
            </a:r>
            <a:r>
              <a:rPr lang="ko-KR" b="1" dirty="0">
                <a:ea typeface="+mn-lt"/>
                <a:cs typeface="+mn-lt"/>
              </a:rPr>
              <a:t> </a:t>
            </a:r>
            <a:r>
              <a:rPr lang="ko-KR" b="1" dirty="0" err="1">
                <a:ea typeface="+mn-lt"/>
                <a:cs typeface="+mn-lt"/>
              </a:rPr>
              <a:t>event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(D1) and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dirty="0" err="1">
                <a:ea typeface="+mn-lt"/>
                <a:cs typeface="+mn-lt"/>
              </a:rPr>
              <a:t>the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b="1" dirty="0" err="1">
                <a:ea typeface="+mn-lt"/>
                <a:cs typeface="+mn-lt"/>
              </a:rPr>
              <a:t>international</a:t>
            </a:r>
            <a:r>
              <a:rPr lang="ko-KR" b="1" dirty="0">
                <a:ea typeface="+mn-lt"/>
                <a:cs typeface="+mn-lt"/>
              </a:rPr>
              <a:t> </a:t>
            </a:r>
            <a:r>
              <a:rPr lang="ko-KR" b="1" dirty="0" err="1">
                <a:ea typeface="+mn-lt"/>
                <a:cs typeface="+mn-lt"/>
              </a:rPr>
              <a:t>event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en-US" altLang="ko-KR" dirty="0">
                <a:ea typeface="+mn-lt"/>
                <a:cs typeface="+mn-lt"/>
              </a:rPr>
              <a:t>(I1) </a:t>
            </a:r>
            <a:r>
              <a:rPr lang="ko-KR" dirty="0" err="1">
                <a:ea typeface="+mn-lt"/>
                <a:cs typeface="+mn-lt"/>
              </a:rPr>
              <a:t>for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dirty="0" err="1">
                <a:ea typeface="+mn-lt"/>
                <a:cs typeface="+mn-lt"/>
              </a:rPr>
              <a:t>this</a:t>
            </a:r>
            <a:r>
              <a:rPr lang="ko-KR" dirty="0">
                <a:ea typeface="+mn-lt"/>
                <a:cs typeface="+mn-lt"/>
              </a:rPr>
              <a:t> </a:t>
            </a:r>
            <a:r>
              <a:rPr lang="ko-KR" dirty="0" err="1">
                <a:ea typeface="+mn-lt"/>
                <a:cs typeface="+mn-lt"/>
              </a:rPr>
              <a:t>round</a:t>
            </a:r>
            <a:r>
              <a:rPr lang="ko-KR" dirty="0">
                <a:ea typeface="+mn-lt"/>
                <a:cs typeface="+mn-lt"/>
              </a:rPr>
              <a:t>.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Hints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are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also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provided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here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for</a:t>
            </a:r>
            <a:r>
              <a:rPr lang="ko-KR" altLang="en-US" dirty="0">
                <a:ea typeface="+mn-lt"/>
                <a:cs typeface="+mn-lt"/>
              </a:rPr>
              <a:t> </a:t>
            </a:r>
            <a:r>
              <a:rPr lang="ko-KR" altLang="en-US" dirty="0" err="1">
                <a:ea typeface="+mn-lt"/>
                <a:cs typeface="+mn-lt"/>
              </a:rPr>
              <a:t>the</a:t>
            </a:r>
            <a:r>
              <a:rPr lang="ko-KR" altLang="en-US" dirty="0">
                <a:ea typeface="+mn-lt"/>
                <a:cs typeface="+mn-lt"/>
              </a:rPr>
              <a:t> "</a:t>
            </a:r>
            <a:r>
              <a:rPr lang="ko-KR" altLang="en-US" dirty="0" err="1">
                <a:ea typeface="+mn-lt"/>
                <a:cs typeface="+mn-lt"/>
              </a:rPr>
              <a:t>Policy</a:t>
            </a:r>
            <a:r>
              <a:rPr lang="ko-KR" altLang="en-US" dirty="0">
                <a:ea typeface="+mn-lt"/>
                <a:cs typeface="+mn-lt"/>
              </a:rPr>
              <a:t>" </a:t>
            </a:r>
            <a:r>
              <a:rPr lang="ko-KR" altLang="en-US" dirty="0" err="1">
                <a:ea typeface="+mn-lt"/>
                <a:cs typeface="+mn-lt"/>
              </a:rPr>
              <a:t>stage</a:t>
            </a:r>
            <a:r>
              <a:rPr lang="ko-KR" altLang="en-US" dirty="0">
                <a:ea typeface="+mn-lt"/>
                <a:cs typeface="+mn-lt"/>
              </a:rPr>
              <a:t>.</a:t>
            </a:r>
            <a:endParaRPr lang="ko-KR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78BEEC8-3336-992F-67B3-DD913DB53401}"/>
              </a:ext>
            </a:extLst>
          </p:cNvPr>
          <p:cNvSpPr/>
          <p:nvPr/>
        </p:nvSpPr>
        <p:spPr>
          <a:xfrm>
            <a:off x="840464" y="2225999"/>
            <a:ext cx="1827050" cy="63032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D0701-343C-E50C-5811-D4F543CD55DD}"/>
              </a:ext>
            </a:extLst>
          </p:cNvPr>
          <p:cNvSpPr txBox="1"/>
          <p:nvPr/>
        </p:nvSpPr>
        <p:spPr>
          <a:xfrm>
            <a:off x="914138" y="2337758"/>
            <a:ext cx="16804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err="1">
                <a:latin typeface="Univers Condensed"/>
              </a:rPr>
              <a:t>Policy</a:t>
            </a:r>
            <a:endParaRPr lang="ko-KR" altLang="en-US" sz="2000">
              <a:latin typeface="Univers Condense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4F6384-E968-A224-C95E-2D8CC65691ED}"/>
              </a:ext>
            </a:extLst>
          </p:cNvPr>
          <p:cNvSpPr txBox="1"/>
          <p:nvPr/>
        </p:nvSpPr>
        <p:spPr>
          <a:xfrm>
            <a:off x="2734344" y="2216490"/>
            <a:ext cx="8585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+mn-lt"/>
                <a:cs typeface="+mn-lt"/>
              </a:rPr>
              <a:t>Set your country’s </a:t>
            </a:r>
            <a:r>
              <a:rPr lang="en-US" b="1" dirty="0">
                <a:ea typeface="+mn-lt"/>
                <a:cs typeface="+mn-lt"/>
              </a:rPr>
              <a:t>AI industry policy.</a:t>
            </a:r>
            <a:r>
              <a:rPr lang="en-US" dirty="0">
                <a:ea typeface="+mn-lt"/>
                <a:cs typeface="+mn-lt"/>
              </a:rPr>
              <a:t> This stage determines your country’s </a:t>
            </a:r>
            <a:r>
              <a:rPr lang="en-US" b="1" dirty="0">
                <a:ea typeface="+mn-lt"/>
                <a:cs typeface="+mn-lt"/>
              </a:rPr>
              <a:t>inherent  growth rate of AI research papers</a:t>
            </a:r>
            <a:r>
              <a:rPr lang="en-US" dirty="0">
                <a:ea typeface="+mn-lt"/>
                <a:cs typeface="+mn-lt"/>
              </a:rPr>
              <a:t>—for example, 174 papers per year.</a:t>
            </a:r>
            <a:endParaRPr lang="ko-KR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E00D620-EA49-40E4-6CB6-ABE7DD683CD4}"/>
              </a:ext>
            </a:extLst>
          </p:cNvPr>
          <p:cNvSpPr/>
          <p:nvPr/>
        </p:nvSpPr>
        <p:spPr>
          <a:xfrm>
            <a:off x="840464" y="3121683"/>
            <a:ext cx="1827050" cy="6303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0F0D97-F41C-0F0C-710F-372D4963F1ED}"/>
              </a:ext>
            </a:extLst>
          </p:cNvPr>
          <p:cNvSpPr txBox="1"/>
          <p:nvPr/>
        </p:nvSpPr>
        <p:spPr>
          <a:xfrm>
            <a:off x="914138" y="3233442"/>
            <a:ext cx="16804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dirty="0" err="1">
                <a:latin typeface="Univers Condensed"/>
              </a:rPr>
              <a:t>Cooperation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C0C793-AEFE-82A0-C515-F9620E954CA5}"/>
              </a:ext>
            </a:extLst>
          </p:cNvPr>
          <p:cNvSpPr txBox="1"/>
          <p:nvPr/>
        </p:nvSpPr>
        <p:spPr>
          <a:xfrm>
            <a:off x="2734344" y="3112174"/>
            <a:ext cx="8585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Engage in </a:t>
            </a:r>
            <a:r>
              <a:rPr lang="en-US" b="1" dirty="0">
                <a:ea typeface="+mn-lt"/>
                <a:cs typeface="+mn-lt"/>
              </a:rPr>
              <a:t>negotiations</a:t>
            </a:r>
            <a:r>
              <a:rPr lang="en-US" dirty="0">
                <a:ea typeface="+mn-lt"/>
                <a:cs typeface="+mn-lt"/>
              </a:rPr>
              <a:t> with others to gain extra models and papers. Successful cooperation in international events grants </a:t>
            </a:r>
            <a:r>
              <a:rPr lang="en-US" b="1" dirty="0">
                <a:ea typeface="+mn-lt"/>
                <a:cs typeface="+mn-lt"/>
              </a:rPr>
              <a:t>bonus outcomes.</a:t>
            </a:r>
            <a:endParaRPr lang="ko-KR" altLang="en-US" b="1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E686C7A-4B89-B19F-529D-7ACDDF26C2CE}"/>
              </a:ext>
            </a:extLst>
          </p:cNvPr>
          <p:cNvSpPr/>
          <p:nvPr/>
        </p:nvSpPr>
        <p:spPr>
          <a:xfrm>
            <a:off x="847148" y="4024051"/>
            <a:ext cx="1827050" cy="630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28A539-EDB8-9D6F-456E-6BE2B1EE4684}"/>
              </a:ext>
            </a:extLst>
          </p:cNvPr>
          <p:cNvSpPr txBox="1"/>
          <p:nvPr/>
        </p:nvSpPr>
        <p:spPr>
          <a:xfrm>
            <a:off x="920822" y="4135810"/>
            <a:ext cx="16804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dirty="0" err="1">
                <a:latin typeface="Univers Condensed"/>
              </a:rPr>
              <a:t>Events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3E3EBC-F813-3D91-EC8B-7407C9411A90}"/>
              </a:ext>
            </a:extLst>
          </p:cNvPr>
          <p:cNvSpPr txBox="1"/>
          <p:nvPr/>
        </p:nvSpPr>
        <p:spPr>
          <a:xfrm>
            <a:off x="2741028" y="4014542"/>
            <a:ext cx="8585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You receive an additional domestic event (D2) and international event (D2). You are </a:t>
            </a:r>
            <a:r>
              <a:rPr lang="en-US" b="1" dirty="0">
                <a:ea typeface="+mn-lt"/>
                <a:cs typeface="+mn-lt"/>
              </a:rPr>
              <a:t>allowed one policy revision</a:t>
            </a:r>
            <a:r>
              <a:rPr lang="en-US" dirty="0">
                <a:ea typeface="+mn-lt"/>
                <a:cs typeface="+mn-lt"/>
              </a:rPr>
              <a:t>, including the option to betray previous commitments.</a:t>
            </a:r>
            <a:endParaRPr lang="ko-KR" dirty="0">
              <a:ea typeface="+mn-lt"/>
              <a:cs typeface="+mn-lt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9221AFA-304A-2D9F-CA6D-2276D0CEC913}"/>
              </a:ext>
            </a:extLst>
          </p:cNvPr>
          <p:cNvSpPr/>
          <p:nvPr/>
        </p:nvSpPr>
        <p:spPr>
          <a:xfrm>
            <a:off x="860516" y="4926418"/>
            <a:ext cx="1827050" cy="630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ACB935-39FF-329B-2538-0CFDD5FE6A4A}"/>
              </a:ext>
            </a:extLst>
          </p:cNvPr>
          <p:cNvSpPr txBox="1"/>
          <p:nvPr/>
        </p:nvSpPr>
        <p:spPr>
          <a:xfrm>
            <a:off x="934190" y="5038177"/>
            <a:ext cx="16804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dirty="0" err="1">
                <a:latin typeface="Univers Condensed"/>
              </a:rPr>
              <a:t>Summary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C4C52C-2D60-2715-6091-4EC63EE826B0}"/>
              </a:ext>
            </a:extLst>
          </p:cNvPr>
          <p:cNvSpPr txBox="1"/>
          <p:nvPr/>
        </p:nvSpPr>
        <p:spPr>
          <a:xfrm>
            <a:off x="2754396" y="4916910"/>
            <a:ext cx="8585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final outcomes</a:t>
            </a:r>
            <a:r>
              <a:rPr lang="en-US" dirty="0">
                <a:ea typeface="+mn-lt"/>
                <a:cs typeface="+mn-lt"/>
              </a:rPr>
              <a:t> for each country, including the US and China, are presented in this section. See who cooperated, who betrayed, and who ultimately thrived.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130473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5B2413-EE6C-15C3-9B04-BFD3F72A7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412" y="1061930"/>
            <a:ext cx="8378648" cy="47420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4324DBB2-6D40-E48C-0A6C-6CF6194D69F0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0_Login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AB17C1-920D-96DF-3EA3-8A13DD9B8DAB}"/>
              </a:ext>
            </a:extLst>
          </p:cNvPr>
          <p:cNvSpPr/>
          <p:nvPr/>
        </p:nvSpPr>
        <p:spPr>
          <a:xfrm>
            <a:off x="2447750" y="1290283"/>
            <a:ext cx="2256753" cy="17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09646FF-8B22-0407-77BF-D24FCFAB04E8}"/>
              </a:ext>
            </a:extLst>
          </p:cNvPr>
          <p:cNvCxnSpPr/>
          <p:nvPr/>
        </p:nvCxnSpPr>
        <p:spPr>
          <a:xfrm flipH="1">
            <a:off x="1209267" y="1634128"/>
            <a:ext cx="1196368" cy="471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876561-F7FC-36E0-A157-16EAA01F958A}"/>
              </a:ext>
            </a:extLst>
          </p:cNvPr>
          <p:cNvSpPr txBox="1"/>
          <p:nvPr/>
        </p:nvSpPr>
        <p:spPr>
          <a:xfrm>
            <a:off x="240852" y="2143205"/>
            <a:ext cx="208146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err="1">
                <a:latin typeface="Univers Condensed"/>
                <a:ea typeface="+mn-lt"/>
                <a:cs typeface="+mn-lt"/>
              </a:rPr>
              <a:t>Game</a:t>
            </a:r>
            <a:r>
              <a:rPr lang="ko-KR" altLang="en-US" b="1" dirty="0">
                <a:latin typeface="Univers Condensed"/>
                <a:ea typeface="+mn-lt"/>
                <a:cs typeface="+mn-lt"/>
              </a:rPr>
              <a:t> </a:t>
            </a:r>
            <a:r>
              <a:rPr lang="ko-KR" altLang="en-US" b="1" err="1">
                <a:latin typeface="Univers Condensed"/>
                <a:ea typeface="+mn-lt"/>
                <a:cs typeface="+mn-lt"/>
              </a:rPr>
              <a:t>Flow</a:t>
            </a:r>
            <a:r>
              <a:rPr lang="ko-KR" altLang="en-US" b="1" dirty="0">
                <a:latin typeface="Univers Condensed"/>
                <a:ea typeface="+mn-lt"/>
                <a:cs typeface="+mn-lt"/>
              </a:rPr>
              <a:t> : </a:t>
            </a:r>
            <a:br>
              <a:rPr lang="ko-KR" altLang="en-US" dirty="0">
                <a:latin typeface="Univers Condensed"/>
                <a:ea typeface="+mn-lt"/>
                <a:cs typeface="+mn-lt"/>
              </a:rPr>
            </a:br>
            <a:r>
              <a:rPr lang="ko-KR" err="1">
                <a:latin typeface="Univers Condensed"/>
                <a:ea typeface="+mn-lt"/>
                <a:cs typeface="+mn-lt"/>
              </a:rPr>
              <a:t>Go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to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the</a:t>
            </a:r>
            <a:r>
              <a:rPr lang="ko-KR" dirty="0">
                <a:latin typeface="Univers Condensed"/>
                <a:ea typeface="+mn-lt"/>
                <a:cs typeface="+mn-lt"/>
              </a:rPr>
              <a:t> AI </a:t>
            </a:r>
            <a:r>
              <a:rPr lang="ko-KR" err="1">
                <a:latin typeface="Univers Condensed"/>
                <a:ea typeface="+mn-lt"/>
                <a:cs typeface="+mn-lt"/>
              </a:rPr>
              <a:t>Session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for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an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overview</a:t>
            </a:r>
            <a:r>
              <a:rPr lang="ko-KR" dirty="0">
                <a:latin typeface="Univers Condensed"/>
                <a:ea typeface="+mn-lt"/>
                <a:cs typeface="+mn-lt"/>
              </a:rPr>
              <a:t> of </a:t>
            </a:r>
            <a:r>
              <a:rPr lang="ko-KR" err="1">
                <a:latin typeface="Univers Condensed"/>
                <a:ea typeface="+mn-lt"/>
                <a:cs typeface="+mn-lt"/>
              </a:rPr>
              <a:t>the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game’s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concept</a:t>
            </a:r>
            <a:r>
              <a:rPr lang="ko-KR" dirty="0">
                <a:latin typeface="Univers Condensed"/>
                <a:ea typeface="+mn-lt"/>
                <a:cs typeface="+mn-lt"/>
              </a:rPr>
              <a:t>.</a:t>
            </a:r>
            <a:endParaRPr lang="ko-KR">
              <a:latin typeface="Univers Condense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81EC2C-DF6E-6CD6-1070-67BA4C568007}"/>
              </a:ext>
            </a:extLst>
          </p:cNvPr>
          <p:cNvSpPr/>
          <p:nvPr/>
        </p:nvSpPr>
        <p:spPr>
          <a:xfrm>
            <a:off x="5535855" y="3596335"/>
            <a:ext cx="4288753" cy="1707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D4A0565-8B8A-6363-38EF-01A2ADC24A27}"/>
              </a:ext>
            </a:extLst>
          </p:cNvPr>
          <p:cNvCxnSpPr>
            <a:cxnSpLocks/>
          </p:cNvCxnSpPr>
          <p:nvPr/>
        </p:nvCxnSpPr>
        <p:spPr>
          <a:xfrm flipH="1">
            <a:off x="4324109" y="3779759"/>
            <a:ext cx="1196368" cy="4717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39BE10-AC43-43AA-6EB7-47ABE7AED71D}"/>
              </a:ext>
            </a:extLst>
          </p:cNvPr>
          <p:cNvSpPr txBox="1"/>
          <p:nvPr/>
        </p:nvSpPr>
        <p:spPr>
          <a:xfrm>
            <a:off x="3282513" y="4286199"/>
            <a:ext cx="206141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 err="1">
                <a:latin typeface="Univers Condensed"/>
              </a:rPr>
              <a:t>Login</a:t>
            </a:r>
            <a:r>
              <a:rPr lang="ko-KR" altLang="en-US" b="1" dirty="0">
                <a:latin typeface="Univers Condensed"/>
              </a:rPr>
              <a:t> </a:t>
            </a:r>
            <a:r>
              <a:rPr lang="ko-KR" altLang="en-US" b="1" dirty="0" err="1">
                <a:latin typeface="Univers Condensed"/>
              </a:rPr>
              <a:t>Box</a:t>
            </a:r>
            <a:r>
              <a:rPr lang="ko-KR" altLang="en-US" b="1" dirty="0">
                <a:latin typeface="Univers Condensed"/>
              </a:rPr>
              <a:t> : </a:t>
            </a:r>
          </a:p>
          <a:p>
            <a:r>
              <a:rPr lang="ko-KR" altLang="en-US" err="1">
                <a:latin typeface="Univers Condensed"/>
              </a:rPr>
              <a:t>Select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your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team</a:t>
            </a:r>
            <a:r>
              <a:rPr lang="ko-KR" altLang="en-US" dirty="0">
                <a:latin typeface="Univers Condensed"/>
              </a:rPr>
              <a:t> and </a:t>
            </a:r>
            <a:r>
              <a:rPr lang="ko-KR" altLang="en-US" err="1">
                <a:latin typeface="Univers Condensed"/>
              </a:rPr>
              <a:t>input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password</a:t>
            </a:r>
            <a:endParaRPr lang="ko-KR" altLang="en-US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148299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ADA23F-162F-CEF5-D856-FB1BF2CB3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915" y="2748708"/>
            <a:ext cx="3502679" cy="32046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0A640C-54CD-6CEA-5793-1BBF459F4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94" y="928491"/>
            <a:ext cx="3402149" cy="31082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A9DFABBB-9B95-A298-C174-0F1C7C33809D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1_Circumstance</a:t>
            </a:r>
            <a:endParaRPr lang="ko-KR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58EE9C-1797-1814-F63C-5DC2ACB5E032}"/>
              </a:ext>
            </a:extLst>
          </p:cNvPr>
          <p:cNvSpPr/>
          <p:nvPr/>
        </p:nvSpPr>
        <p:spPr>
          <a:xfrm>
            <a:off x="763330" y="1898545"/>
            <a:ext cx="3727278" cy="14335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BD1F2F-0375-E0FB-B7E6-84A75C1EA0E2}"/>
              </a:ext>
            </a:extLst>
          </p:cNvPr>
          <p:cNvSpPr/>
          <p:nvPr/>
        </p:nvSpPr>
        <p:spPr>
          <a:xfrm>
            <a:off x="4653540" y="3957281"/>
            <a:ext cx="3727278" cy="143359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5EC4A6-E38D-FA3E-0F96-2718C793C0D6}"/>
              </a:ext>
            </a:extLst>
          </p:cNvPr>
          <p:cNvSpPr/>
          <p:nvPr/>
        </p:nvSpPr>
        <p:spPr>
          <a:xfrm>
            <a:off x="4633488" y="3335649"/>
            <a:ext cx="3747330" cy="4710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77546C2-7029-476E-9DBB-F0BAA7017A61}"/>
              </a:ext>
            </a:extLst>
          </p:cNvPr>
          <p:cNvCxnSpPr/>
          <p:nvPr/>
        </p:nvCxnSpPr>
        <p:spPr>
          <a:xfrm>
            <a:off x="1149003" y="3351969"/>
            <a:ext cx="601684" cy="9730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5E071A-B0CC-C90E-9368-4B90390A317E}"/>
              </a:ext>
            </a:extLst>
          </p:cNvPr>
          <p:cNvSpPr txBox="1"/>
          <p:nvPr/>
        </p:nvSpPr>
        <p:spPr>
          <a:xfrm>
            <a:off x="951009" y="4459540"/>
            <a:ext cx="29637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b="1" dirty="0">
                <a:latin typeface="Univers Condensed"/>
                <a:ea typeface="+mn-lt"/>
                <a:cs typeface="+mn-lt"/>
              </a:rPr>
              <a:t>D1 and </a:t>
            </a:r>
            <a:r>
              <a:rPr lang="ko-KR" b="1" err="1">
                <a:latin typeface="Univers Condensed"/>
                <a:ea typeface="+mn-lt"/>
                <a:cs typeface="+mn-lt"/>
              </a:rPr>
              <a:t>its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ko-KR" b="1" err="1">
                <a:latin typeface="Univers Condensed"/>
                <a:ea typeface="+mn-lt"/>
                <a:cs typeface="+mn-lt"/>
              </a:rPr>
              <a:t>description</a:t>
            </a:r>
            <a:r>
              <a:rPr lang="ko-KR" b="1" dirty="0">
                <a:latin typeface="Univers Condensed"/>
                <a:ea typeface="+mn-lt"/>
                <a:cs typeface="+mn-lt"/>
              </a:rPr>
              <a:t>: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br>
              <a:rPr lang="ko-KR" altLang="en-US" dirty="0">
                <a:latin typeface="Univers Condensed"/>
                <a:ea typeface="+mn-lt"/>
                <a:cs typeface="+mn-lt"/>
              </a:rPr>
            </a:br>
            <a:r>
              <a:rPr lang="ko-KR" err="1">
                <a:latin typeface="Univers Condensed"/>
                <a:ea typeface="+mn-lt"/>
                <a:cs typeface="+mn-lt"/>
              </a:rPr>
              <a:t>pay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close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attention</a:t>
            </a:r>
            <a:r>
              <a:rPr lang="ko-KR" dirty="0">
                <a:latin typeface="Univers Condensed"/>
                <a:ea typeface="+mn-lt"/>
                <a:cs typeface="+mn-lt"/>
              </a:rPr>
              <a:t>; </a:t>
            </a:r>
            <a:r>
              <a:rPr lang="ko-KR" err="1">
                <a:latin typeface="Univers Condensed"/>
                <a:ea typeface="+mn-lt"/>
                <a:cs typeface="+mn-lt"/>
              </a:rPr>
              <a:t>it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could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guide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your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policy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decision</a:t>
            </a:r>
            <a:r>
              <a:rPr lang="ko-KR" dirty="0">
                <a:latin typeface="Univers Condensed"/>
                <a:ea typeface="+mn-lt"/>
                <a:cs typeface="+mn-lt"/>
              </a:rPr>
              <a:t>.</a:t>
            </a:r>
            <a:endParaRPr lang="ko-KR">
              <a:latin typeface="Univers Condensed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1D9C684-DF86-705E-6F54-721409E2FA30}"/>
              </a:ext>
            </a:extLst>
          </p:cNvPr>
          <p:cNvCxnSpPr>
            <a:cxnSpLocks/>
          </p:cNvCxnSpPr>
          <p:nvPr/>
        </p:nvCxnSpPr>
        <p:spPr>
          <a:xfrm>
            <a:off x="8408055" y="4488285"/>
            <a:ext cx="661841" cy="53191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369E5E7-08BB-8BFB-B1DF-C711F736BAB1}"/>
              </a:ext>
            </a:extLst>
          </p:cNvPr>
          <p:cNvSpPr txBox="1"/>
          <p:nvPr/>
        </p:nvSpPr>
        <p:spPr>
          <a:xfrm>
            <a:off x="8584377" y="5034382"/>
            <a:ext cx="29637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b="1" dirty="0">
                <a:latin typeface="Univers Condensed"/>
                <a:ea typeface="+mn-lt"/>
                <a:cs typeface="+mn-lt"/>
              </a:rPr>
              <a:t>E1</a:t>
            </a:r>
            <a:r>
              <a:rPr lang="ko-KR" b="1" dirty="0">
                <a:latin typeface="Univers Condensed"/>
                <a:ea typeface="+mn-lt"/>
                <a:cs typeface="+mn-lt"/>
              </a:rPr>
              <a:t> and </a:t>
            </a:r>
            <a:r>
              <a:rPr lang="ko-KR" b="1" err="1">
                <a:latin typeface="Univers Condensed"/>
                <a:ea typeface="+mn-lt"/>
                <a:cs typeface="+mn-lt"/>
              </a:rPr>
              <a:t>its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ko-KR" b="1" err="1">
                <a:latin typeface="Univers Condensed"/>
                <a:ea typeface="+mn-lt"/>
                <a:cs typeface="+mn-lt"/>
              </a:rPr>
              <a:t>description</a:t>
            </a:r>
            <a:r>
              <a:rPr lang="ko-KR" b="1" dirty="0">
                <a:latin typeface="Univers Condensed"/>
                <a:ea typeface="+mn-lt"/>
                <a:cs typeface="+mn-lt"/>
              </a:rPr>
              <a:t>: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br>
              <a:rPr lang="ko-KR" altLang="en-US" dirty="0">
                <a:latin typeface="Univers Condensed"/>
                <a:ea typeface="+mn-lt"/>
                <a:cs typeface="+mn-lt"/>
              </a:rPr>
            </a:br>
            <a:r>
              <a:rPr lang="en-US" altLang="ko-KR" dirty="0">
                <a:latin typeface="Univers Condensed"/>
                <a:ea typeface="+mn-lt"/>
                <a:cs typeface="+mn-lt"/>
              </a:rPr>
              <a:t>this</a:t>
            </a:r>
            <a:r>
              <a:rPr lang="ko-KR" altLang="en-US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is</a:t>
            </a:r>
            <a:r>
              <a:rPr lang="ko-KR" altLang="en-US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the</a:t>
            </a:r>
            <a:r>
              <a:rPr lang="ko-KR" altLang="en-US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same</a:t>
            </a:r>
            <a:r>
              <a:rPr lang="ko-KR" altLang="en-US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for</a:t>
            </a:r>
            <a:r>
              <a:rPr lang="ko-KR" altLang="en-US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all</a:t>
            </a:r>
            <a:r>
              <a:rPr lang="ko-KR" altLang="en-US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four</a:t>
            </a:r>
            <a:r>
              <a:rPr lang="ko-KR" altLang="en-US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countries.</a:t>
            </a:r>
            <a:endParaRPr lang="en-US" altLang="ko-KR">
              <a:latin typeface="Univers Condensed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758B501-EF81-9B68-0F42-34F2D6E727A2}"/>
              </a:ext>
            </a:extLst>
          </p:cNvPr>
          <p:cNvCxnSpPr>
            <a:cxnSpLocks/>
          </p:cNvCxnSpPr>
          <p:nvPr/>
        </p:nvCxnSpPr>
        <p:spPr>
          <a:xfrm flipV="1">
            <a:off x="6770424" y="2079143"/>
            <a:ext cx="1610998" cy="1252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B8042B-8E86-FE89-7408-17914E8C1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502" y="1031039"/>
            <a:ext cx="2321260" cy="13602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44DE63-290D-ECB8-DAE8-EF17E0BE29CD}"/>
              </a:ext>
            </a:extLst>
          </p:cNvPr>
          <p:cNvSpPr txBox="1"/>
          <p:nvPr/>
        </p:nvSpPr>
        <p:spPr>
          <a:xfrm>
            <a:off x="8544271" y="2407488"/>
            <a:ext cx="2589464" cy="9366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Univers Condensed"/>
                <a:ea typeface="+mn-lt"/>
                <a:cs typeface="+mn-lt"/>
              </a:rPr>
              <a:t>Opening it will provide hints to help guide your policy decision.</a:t>
            </a:r>
            <a:endParaRPr lang="ko-KR" altLang="en-US">
              <a:latin typeface="Univers Condense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4010DB-EDD9-5690-9FDC-5D858A6A0DA6}"/>
              </a:ext>
            </a:extLst>
          </p:cNvPr>
          <p:cNvSpPr/>
          <p:nvPr/>
        </p:nvSpPr>
        <p:spPr>
          <a:xfrm>
            <a:off x="4653540" y="5494649"/>
            <a:ext cx="1361068" cy="257170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B6738D2-D82D-330D-8D84-1D46802DC6BB}"/>
              </a:ext>
            </a:extLst>
          </p:cNvPr>
          <p:cNvCxnSpPr>
            <a:cxnSpLocks/>
          </p:cNvCxnSpPr>
          <p:nvPr/>
        </p:nvCxnSpPr>
        <p:spPr>
          <a:xfrm>
            <a:off x="5086002" y="5764968"/>
            <a:ext cx="33526" cy="49848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0D27A57-D948-4D85-E7CC-947E56B8AF75}"/>
              </a:ext>
            </a:extLst>
          </p:cNvPr>
          <p:cNvSpPr txBox="1"/>
          <p:nvPr/>
        </p:nvSpPr>
        <p:spPr>
          <a:xfrm>
            <a:off x="4613956" y="6270961"/>
            <a:ext cx="29637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b="1" dirty="0">
                <a:latin typeface="Univers Condensed"/>
                <a:ea typeface="+mn-lt"/>
                <a:cs typeface="+mn-lt"/>
              </a:rPr>
              <a:t>Move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on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to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the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next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page</a:t>
            </a:r>
            <a:endParaRPr lang="ko-KR" altLang="en-US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70937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D56D7-71B8-AD8D-5995-BEE17642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6FA36352-93AC-9351-C076-C788BDE55CDF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2_Policy</a:t>
            </a:r>
            <a:endParaRPr lang="ko-KR" dirty="0"/>
          </a:p>
        </p:txBody>
      </p:sp>
      <p:pic>
        <p:nvPicPr>
          <p:cNvPr id="2" name="그림 1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369D17-4A62-E85A-4323-23C80F733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347" y="1009316"/>
            <a:ext cx="4260411" cy="34958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2D0184-C86D-1831-A97B-EBF1D9BC0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133" y="975895"/>
            <a:ext cx="3917945" cy="4050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EAAB7A-4C92-70AD-C69D-F2499E56B82F}"/>
              </a:ext>
            </a:extLst>
          </p:cNvPr>
          <p:cNvSpPr/>
          <p:nvPr/>
        </p:nvSpPr>
        <p:spPr>
          <a:xfrm>
            <a:off x="1077488" y="3689913"/>
            <a:ext cx="4663067" cy="9590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121052-E174-B511-CD10-2B3DE6B1A223}"/>
              </a:ext>
            </a:extLst>
          </p:cNvPr>
          <p:cNvSpPr txBox="1"/>
          <p:nvPr/>
        </p:nvSpPr>
        <p:spPr>
          <a:xfrm>
            <a:off x="1078270" y="5119018"/>
            <a:ext cx="456798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 err="1">
                <a:latin typeface="Univers Condensed"/>
                <a:ea typeface="+mn-lt"/>
                <a:cs typeface="+mn-lt"/>
              </a:rPr>
              <a:t>An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b="1" dirty="0" err="1">
                <a:latin typeface="Univers Condensed"/>
                <a:ea typeface="+mn-lt"/>
                <a:cs typeface="+mn-lt"/>
              </a:rPr>
              <a:t>approximate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ko-KR" b="1" dirty="0" err="1">
                <a:latin typeface="Univers Condensed"/>
                <a:ea typeface="+mn-lt"/>
                <a:cs typeface="+mn-lt"/>
              </a:rPr>
              <a:t>formula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for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the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inherent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growth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rate</a:t>
            </a:r>
            <a:r>
              <a:rPr lang="ko-KR" dirty="0">
                <a:latin typeface="Univers Condensed"/>
                <a:ea typeface="+mn-lt"/>
                <a:cs typeface="+mn-lt"/>
              </a:rPr>
              <a:t> of AI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research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papers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and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models</a:t>
            </a:r>
            <a:endParaRPr lang="ko-KR" dirty="0" err="1">
              <a:latin typeface="Univers Condensed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BC4EC74-D86D-209B-30D4-BBC3E80930C5}"/>
              </a:ext>
            </a:extLst>
          </p:cNvPr>
          <p:cNvCxnSpPr/>
          <p:nvPr/>
        </p:nvCxnSpPr>
        <p:spPr>
          <a:xfrm>
            <a:off x="1282688" y="4668758"/>
            <a:ext cx="220684" cy="4316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3B33840-A782-923A-08AE-AE55DA9FED13}"/>
              </a:ext>
            </a:extLst>
          </p:cNvPr>
          <p:cNvSpPr txBox="1"/>
          <p:nvPr/>
        </p:nvSpPr>
        <p:spPr>
          <a:xfrm>
            <a:off x="6499165" y="5119018"/>
            <a:ext cx="40065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Univers Condensed"/>
                <a:ea typeface="+mn-lt"/>
                <a:cs typeface="+mn-lt"/>
              </a:rPr>
              <a:t>5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 policy categories, each containing multiple parameters—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15 in total.</a:t>
            </a:r>
            <a:endParaRPr lang="en-US" altLang="ko-KR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60457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FC0AD-37D6-26F0-636B-593758C7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74207110-7708-C3D4-6B0F-64EC114C7D27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2_Policy</a:t>
            </a:r>
            <a:endParaRPr lang="ko-KR" dirty="0"/>
          </a:p>
        </p:txBody>
      </p:sp>
      <p:pic>
        <p:nvPicPr>
          <p:cNvPr id="6" name="그림 5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ACE3EE-F9A9-4437-2DC8-498603E3F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52" y="2526632"/>
            <a:ext cx="4547695" cy="32752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84CEBE-0153-4047-34E4-71EFA9B9A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375" y="3847597"/>
            <a:ext cx="4035091" cy="1936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 descr="폰트, 텍스트, 타이포그래피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20ABA1-9EB5-3A7C-43A1-4ACBC4A74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51" y="1057776"/>
            <a:ext cx="5806908" cy="451185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F7355D46-395A-B96E-BBC1-454F5B282DB7}"/>
              </a:ext>
            </a:extLst>
          </p:cNvPr>
          <p:cNvSpPr/>
          <p:nvPr/>
        </p:nvSpPr>
        <p:spPr>
          <a:xfrm>
            <a:off x="2051384" y="4047169"/>
            <a:ext cx="437371" cy="135615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112C198-2951-9E41-4079-5CF43E790D28}"/>
              </a:ext>
            </a:extLst>
          </p:cNvPr>
          <p:cNvCxnSpPr/>
          <p:nvPr/>
        </p:nvCxnSpPr>
        <p:spPr>
          <a:xfrm flipH="1" flipV="1">
            <a:off x="1284570" y="1345900"/>
            <a:ext cx="956753" cy="2719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1174348-153D-85A1-0B70-D5F9D63A64D0}"/>
              </a:ext>
            </a:extLst>
          </p:cNvPr>
          <p:cNvSpPr txBox="1"/>
          <p:nvPr/>
        </p:nvSpPr>
        <p:spPr>
          <a:xfrm>
            <a:off x="731873" y="204665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err="1">
                <a:latin typeface="Univers Condensed"/>
              </a:rPr>
              <a:t>Example</a:t>
            </a:r>
            <a:r>
              <a:rPr lang="ko-KR" altLang="en-US" b="1" dirty="0">
                <a:latin typeface="Univers Condensed"/>
              </a:rPr>
              <a:t> of Tech </a:t>
            </a:r>
            <a:r>
              <a:rPr lang="ko-KR" altLang="en-US" b="1" err="1">
                <a:latin typeface="Univers Condensed"/>
              </a:rPr>
              <a:t>policy</a:t>
            </a:r>
            <a:endParaRPr lang="ko-KR" altLang="en-US" b="1">
              <a:latin typeface="Univers Condense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A35376-7FBF-C40F-6F52-9E43071DC2F9}"/>
              </a:ext>
            </a:extLst>
          </p:cNvPr>
          <p:cNvSpPr txBox="1"/>
          <p:nvPr/>
        </p:nvSpPr>
        <p:spPr>
          <a:xfrm>
            <a:off x="5951877" y="3046524"/>
            <a:ext cx="553051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err="1">
                <a:latin typeface="Univers Condensed"/>
                <a:ea typeface="+mn-lt"/>
                <a:cs typeface="+mn-lt"/>
              </a:rPr>
              <a:t>Some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parameters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are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used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in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later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phases</a:t>
            </a:r>
            <a:r>
              <a:rPr lang="ko-KR" dirty="0">
                <a:latin typeface="Univers Condensed"/>
                <a:ea typeface="+mn-lt"/>
                <a:cs typeface="+mn-lt"/>
              </a:rPr>
              <a:t>—</a:t>
            </a:r>
            <a:r>
              <a:rPr lang="ko-KR" err="1">
                <a:latin typeface="Univers Condensed"/>
                <a:ea typeface="+mn-lt"/>
                <a:cs typeface="+mn-lt"/>
              </a:rPr>
              <a:t>for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example</a:t>
            </a:r>
            <a:r>
              <a:rPr lang="ko-KR" dirty="0">
                <a:latin typeface="Univers Condensed"/>
                <a:ea typeface="+mn-lt"/>
                <a:cs typeface="+mn-lt"/>
              </a:rPr>
              <a:t>, </a:t>
            </a:r>
            <a:r>
              <a:rPr lang="ko-KR" b="1" i="1" err="1">
                <a:latin typeface="Univers Condensed"/>
                <a:ea typeface="+mn-lt"/>
                <a:cs typeface="+mn-lt"/>
              </a:rPr>
              <a:t>Willing_to_Cooperate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is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used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during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latin typeface="Univers Condensed"/>
                <a:ea typeface="+mn-lt"/>
                <a:cs typeface="+mn-lt"/>
              </a:rPr>
              <a:t>3_</a:t>
            </a:r>
            <a:r>
              <a:rPr lang="ko-KR" err="1">
                <a:latin typeface="Univers Condensed"/>
                <a:ea typeface="+mn-lt"/>
                <a:cs typeface="+mn-lt"/>
              </a:rPr>
              <a:t>Cooperation</a:t>
            </a:r>
            <a:r>
              <a:rPr lang="ko-KR" dirty="0">
                <a:latin typeface="Univers Condensed"/>
                <a:ea typeface="+mn-lt"/>
                <a:cs typeface="+mn-lt"/>
              </a:rPr>
              <a:t>.</a:t>
            </a:r>
            <a:endParaRPr lang="ko-KR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4777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8F24E-85AC-C69A-7E07-BC744E33F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E9D26BB4-2F10-9AD6-DA78-7BAC4BF6D2D8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2_Policy</a:t>
            </a:r>
            <a:endParaRPr lang="ko-KR" dirty="0"/>
          </a:p>
        </p:txBody>
      </p:sp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718B44-92F2-2619-9845-F6CC8944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238" y="2036847"/>
            <a:ext cx="5058945" cy="26372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61E403-7460-0217-F1E5-8D54B019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84" y="2038685"/>
            <a:ext cx="4355640" cy="2626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321895-FD2E-43F5-AA70-97A1D9E44F28}"/>
              </a:ext>
            </a:extLst>
          </p:cNvPr>
          <p:cNvSpPr txBox="1"/>
          <p:nvPr/>
        </p:nvSpPr>
        <p:spPr>
          <a:xfrm>
            <a:off x="1102183" y="154908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latin typeface="Univers Condensed"/>
              </a:rPr>
              <a:t>When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successful</a:t>
            </a:r>
            <a:r>
              <a:rPr lang="ko-KR" altLang="en-US" dirty="0">
                <a:latin typeface="Univers Condensed"/>
              </a:rPr>
              <a:t>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08AC6-AA0C-8661-201D-6DD56E20404F}"/>
              </a:ext>
            </a:extLst>
          </p:cNvPr>
          <p:cNvSpPr txBox="1"/>
          <p:nvPr/>
        </p:nvSpPr>
        <p:spPr>
          <a:xfrm>
            <a:off x="5868024" y="154908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latin typeface="Univers Condensed"/>
              </a:rPr>
              <a:t>If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not</a:t>
            </a:r>
            <a:r>
              <a:rPr lang="ko-KR" altLang="en-US" dirty="0">
                <a:latin typeface="Univers Condensed"/>
              </a:rPr>
              <a:t>, </a:t>
            </a:r>
            <a:endParaRPr lang="ko-KR">
              <a:latin typeface="Univers Condense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5F8CD4-7796-CA27-24C2-787FA5AA877C}"/>
              </a:ext>
            </a:extLst>
          </p:cNvPr>
          <p:cNvSpPr/>
          <p:nvPr/>
        </p:nvSpPr>
        <p:spPr>
          <a:xfrm>
            <a:off x="2735172" y="4117703"/>
            <a:ext cx="1327647" cy="6782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4B714C7-553B-C569-294D-CFC65E7433C3}"/>
              </a:ext>
            </a:extLst>
          </p:cNvPr>
          <p:cNvCxnSpPr/>
          <p:nvPr/>
        </p:nvCxnSpPr>
        <p:spPr>
          <a:xfrm>
            <a:off x="3428319" y="4815812"/>
            <a:ext cx="160527" cy="311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48AF61-CE40-C439-5E0A-5540C00F2723}"/>
              </a:ext>
            </a:extLst>
          </p:cNvPr>
          <p:cNvSpPr txBox="1"/>
          <p:nvPr/>
        </p:nvSpPr>
        <p:spPr>
          <a:xfrm>
            <a:off x="1101588" y="5139154"/>
            <a:ext cx="62056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ea typeface="+mn-lt"/>
              </a:rPr>
              <a:t>your country’s </a:t>
            </a:r>
            <a:r>
              <a:rPr lang="en-US" altLang="ko-KR" b="1" dirty="0">
                <a:ea typeface="+mn-lt"/>
              </a:rPr>
              <a:t>inherent growth rate of AI research papers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50372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5B505-A87C-A30B-9EDD-12BFBDB0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CE689ED6-2734-2CCA-629E-D7BFD5F7F8BA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3_Cooperation</a:t>
            </a:r>
            <a:endParaRPr lang="ko-KR" dirty="0"/>
          </a:p>
        </p:txBody>
      </p:sp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8EB080-A2DA-DE55-4A63-853FCAC3B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99" y="1610895"/>
            <a:ext cx="4319296" cy="34156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0AE3F2-B1FF-D76E-0D63-3227F4FFEC66}"/>
              </a:ext>
            </a:extLst>
          </p:cNvPr>
          <p:cNvSpPr txBox="1"/>
          <p:nvPr/>
        </p:nvSpPr>
        <p:spPr>
          <a:xfrm>
            <a:off x="5620427" y="2009426"/>
            <a:ext cx="545698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err="1">
                <a:latin typeface="Univers Condensed"/>
                <a:ea typeface="+mn-lt"/>
                <a:cs typeface="+mn-lt"/>
              </a:rPr>
              <a:t>In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this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phase</a:t>
            </a:r>
            <a:r>
              <a:rPr lang="ko-KR" dirty="0">
                <a:latin typeface="Univers Condensed"/>
                <a:ea typeface="+mn-lt"/>
                <a:cs typeface="+mn-lt"/>
              </a:rPr>
              <a:t>, </a:t>
            </a:r>
            <a:r>
              <a:rPr lang="ko-KR" err="1">
                <a:latin typeface="Univers Condensed"/>
                <a:ea typeface="+mn-lt"/>
                <a:cs typeface="+mn-lt"/>
              </a:rPr>
              <a:t>you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should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meet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with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other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countries</a:t>
            </a:r>
            <a:r>
              <a:rPr lang="ko-KR" dirty="0">
                <a:latin typeface="Univers Condensed"/>
                <a:ea typeface="+mn-lt"/>
                <a:cs typeface="+mn-lt"/>
              </a:rPr>
              <a:t> and </a:t>
            </a:r>
            <a:r>
              <a:rPr lang="ko-KR" b="1" err="1">
                <a:solidFill>
                  <a:srgbClr val="FF0000"/>
                </a:solidFill>
                <a:latin typeface="Univers Condensed"/>
                <a:ea typeface="+mn-lt"/>
                <a:cs typeface="+mn-lt"/>
              </a:rPr>
              <a:t>engage</a:t>
            </a:r>
            <a:r>
              <a:rPr lang="ko-KR" b="1" dirty="0">
                <a:solidFill>
                  <a:srgbClr val="FF0000"/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ko-KR" b="1" err="1">
                <a:solidFill>
                  <a:srgbClr val="FF0000"/>
                </a:solidFill>
                <a:latin typeface="Univers Condensed"/>
                <a:ea typeface="+mn-lt"/>
                <a:cs typeface="+mn-lt"/>
              </a:rPr>
              <a:t>in</a:t>
            </a:r>
            <a:r>
              <a:rPr lang="ko-KR" b="1" dirty="0">
                <a:solidFill>
                  <a:srgbClr val="FF0000"/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ko-KR" b="1" err="1">
                <a:solidFill>
                  <a:srgbClr val="FF0000"/>
                </a:solidFill>
                <a:latin typeface="Univers Condensed"/>
                <a:ea typeface="+mn-lt"/>
                <a:cs typeface="+mn-lt"/>
              </a:rPr>
              <a:t>negotiations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for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cooperation</a:t>
            </a:r>
            <a:r>
              <a:rPr lang="ko-KR" dirty="0">
                <a:latin typeface="Univers Condensed"/>
                <a:ea typeface="+mn-lt"/>
                <a:cs typeface="+mn-lt"/>
              </a:rPr>
              <a:t>.</a:t>
            </a:r>
            <a:endParaRPr lang="ko-KR" altLang="en-US" dirty="0">
              <a:latin typeface="Univers Condensed"/>
              <a:ea typeface="+mn-lt"/>
              <a:cs typeface="+mn-lt"/>
            </a:endParaRPr>
          </a:p>
          <a:p>
            <a:br>
              <a:rPr lang="ko-KR" dirty="0">
                <a:latin typeface="Univers Condensed"/>
                <a:ea typeface="+mn-lt"/>
                <a:cs typeface="+mn-lt"/>
              </a:rPr>
            </a:b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There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are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three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types</a:t>
            </a:r>
            <a:r>
              <a:rPr lang="ko-KR" dirty="0">
                <a:latin typeface="Univers Condensed"/>
                <a:ea typeface="+mn-lt"/>
                <a:cs typeface="+mn-lt"/>
              </a:rPr>
              <a:t> of </a:t>
            </a:r>
            <a:r>
              <a:rPr lang="ko-KR" err="1">
                <a:latin typeface="Univers Condensed"/>
                <a:ea typeface="+mn-lt"/>
                <a:cs typeface="+mn-lt"/>
              </a:rPr>
              <a:t>cooperation</a:t>
            </a:r>
            <a:r>
              <a:rPr lang="ko-KR" dirty="0">
                <a:latin typeface="Univers Condensed"/>
                <a:ea typeface="+mn-lt"/>
                <a:cs typeface="+mn-lt"/>
              </a:rPr>
              <a:t>: </a:t>
            </a:r>
            <a:br>
              <a:rPr lang="ko-KR" altLang="en-US" dirty="0">
                <a:latin typeface="Univers Condensed"/>
                <a:ea typeface="+mn-lt"/>
                <a:cs typeface="+mn-lt"/>
              </a:rPr>
            </a:br>
            <a:br>
              <a:rPr lang="ko-KR" altLang="en-US" dirty="0">
                <a:latin typeface="Univers Condensed"/>
                <a:ea typeface="+mn-lt"/>
                <a:cs typeface="+mn-lt"/>
              </a:rPr>
            </a:br>
            <a:r>
              <a:rPr lang="ko-KR" b="1" dirty="0">
                <a:latin typeface="Univers Condensed"/>
                <a:ea typeface="+mn-lt"/>
                <a:cs typeface="+mn-lt"/>
              </a:rPr>
              <a:t>(1) </a:t>
            </a:r>
            <a:r>
              <a:rPr lang="ko-KR" b="1" err="1">
                <a:latin typeface="Univers Condensed"/>
                <a:ea typeface="+mn-lt"/>
                <a:cs typeface="+mn-lt"/>
              </a:rPr>
              <a:t>Resource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ko-KR" b="1" err="1">
                <a:latin typeface="Univers Condensed"/>
                <a:ea typeface="+mn-lt"/>
                <a:cs typeface="+mn-lt"/>
              </a:rPr>
              <a:t>Sharing</a:t>
            </a:r>
            <a:r>
              <a:rPr lang="ko-KR" b="1" dirty="0">
                <a:latin typeface="Univers Condensed"/>
                <a:ea typeface="+mn-lt"/>
                <a:cs typeface="+mn-lt"/>
              </a:rPr>
              <a:t>, </a:t>
            </a:r>
            <a:br>
              <a:rPr lang="ko-KR" altLang="en-US" b="1" dirty="0">
                <a:latin typeface="Univers Condensed"/>
                <a:ea typeface="+mn-lt"/>
                <a:cs typeface="+mn-lt"/>
              </a:rPr>
            </a:br>
            <a:r>
              <a:rPr lang="ko-KR" b="1" dirty="0">
                <a:latin typeface="Univers Condensed"/>
                <a:ea typeface="+mn-lt"/>
                <a:cs typeface="+mn-lt"/>
              </a:rPr>
              <a:t>(2) </a:t>
            </a:r>
            <a:r>
              <a:rPr lang="ko-KR" b="1" err="1">
                <a:latin typeface="Univers Condensed"/>
                <a:ea typeface="+mn-lt"/>
                <a:cs typeface="+mn-lt"/>
              </a:rPr>
              <a:t>Emergency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ko-KR" b="1" err="1">
                <a:latin typeface="Univers Condensed"/>
                <a:ea typeface="+mn-lt"/>
                <a:cs typeface="+mn-lt"/>
              </a:rPr>
              <a:t>Pact</a:t>
            </a:r>
            <a:r>
              <a:rPr lang="ko-KR" b="1" dirty="0">
                <a:latin typeface="Univers Condensed"/>
                <a:ea typeface="+mn-lt"/>
                <a:cs typeface="+mn-lt"/>
              </a:rPr>
              <a:t>, and </a:t>
            </a:r>
            <a:br>
              <a:rPr lang="ko-KR" altLang="en-US" b="1" dirty="0">
                <a:latin typeface="Univers Condensed"/>
                <a:ea typeface="+mn-lt"/>
                <a:cs typeface="+mn-lt"/>
              </a:rPr>
            </a:br>
            <a:r>
              <a:rPr lang="ko-KR" b="1" dirty="0">
                <a:latin typeface="Univers Condensed"/>
                <a:ea typeface="+mn-lt"/>
                <a:cs typeface="+mn-lt"/>
              </a:rPr>
              <a:t>(3) </a:t>
            </a:r>
            <a:r>
              <a:rPr lang="ko-KR" b="1" err="1">
                <a:latin typeface="Univers Condensed"/>
                <a:ea typeface="+mn-lt"/>
                <a:cs typeface="+mn-lt"/>
              </a:rPr>
              <a:t>Joint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ko-KR" b="1" err="1">
                <a:latin typeface="Univers Condensed"/>
                <a:ea typeface="+mn-lt"/>
                <a:cs typeface="+mn-lt"/>
              </a:rPr>
              <a:t>Projects</a:t>
            </a:r>
            <a:r>
              <a:rPr lang="ko-KR" b="1" dirty="0">
                <a:latin typeface="Univers Condensed"/>
                <a:ea typeface="+mn-lt"/>
                <a:cs typeface="+mn-lt"/>
              </a:rPr>
              <a:t>.</a:t>
            </a:r>
            <a:endParaRPr lang="ko-KR" b="1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03651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88FD0-D0BF-E9A6-5B49-F41A288F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21679341-4B83-69B0-FFE5-EC88F09E72B2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3_Cooperation</a:t>
            </a:r>
            <a:endParaRPr lang="ko-KR" dirty="0"/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503758-3F0E-90C0-19AC-A74B658E0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43" y="1122278"/>
            <a:ext cx="6102852" cy="32899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0DC72A-CCB4-7856-9217-957A7535B916}"/>
              </a:ext>
            </a:extLst>
          </p:cNvPr>
          <p:cNvSpPr txBox="1"/>
          <p:nvPr/>
        </p:nvSpPr>
        <p:spPr>
          <a:xfrm>
            <a:off x="898896" y="5087490"/>
            <a:ext cx="45479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err="1">
                <a:latin typeface="Univers Condensed"/>
                <a:ea typeface="+mn-lt"/>
                <a:cs typeface="+mn-lt"/>
              </a:rPr>
              <a:t>This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matrix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updates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when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you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err="1">
                <a:latin typeface="Univers Condensed"/>
                <a:ea typeface="+mn-lt"/>
                <a:cs typeface="+mn-lt"/>
              </a:rPr>
              <a:t>press</a:t>
            </a:r>
            <a:r>
              <a:rPr lang="ko-KR" dirty="0">
                <a:latin typeface="Univers Condensed"/>
                <a:ea typeface="+mn-lt"/>
                <a:cs typeface="+mn-lt"/>
              </a:rPr>
              <a:t>...</a:t>
            </a:r>
            <a:endParaRPr lang="ko-KR" dirty="0">
              <a:latin typeface="Univers Condensed"/>
            </a:endParaRPr>
          </a:p>
        </p:txBody>
      </p:sp>
      <p:pic>
        <p:nvPicPr>
          <p:cNvPr id="13" name="그림 1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86CEE6-9B9C-DE26-3C43-62DF96D0A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585" y="5585158"/>
            <a:ext cx="2502570" cy="406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1A9B58-6E7B-E6F5-B06E-D9EB14B5C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243" y="5180765"/>
            <a:ext cx="2502570" cy="4000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65F05C-CFFB-77A2-00BD-D88359EEB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585" y="4796421"/>
            <a:ext cx="2495886" cy="39336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0309855-DE3F-7D9F-2FD0-40E9F77B2C7C}"/>
              </a:ext>
            </a:extLst>
          </p:cNvPr>
          <p:cNvCxnSpPr>
            <a:cxnSpLocks/>
          </p:cNvCxnSpPr>
          <p:nvPr/>
        </p:nvCxnSpPr>
        <p:spPr>
          <a:xfrm flipV="1">
            <a:off x="6880165" y="2094531"/>
            <a:ext cx="754405" cy="19171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DB002C-6644-2401-32BD-8B6DB13BBDA1}"/>
              </a:ext>
            </a:extLst>
          </p:cNvPr>
          <p:cNvSpPr/>
          <p:nvPr/>
        </p:nvSpPr>
        <p:spPr>
          <a:xfrm>
            <a:off x="689804" y="3850334"/>
            <a:ext cx="6454436" cy="6782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81685F-D873-2ACB-B0D6-04F660430264}"/>
              </a:ext>
            </a:extLst>
          </p:cNvPr>
          <p:cNvSpPr/>
          <p:nvPr/>
        </p:nvSpPr>
        <p:spPr>
          <a:xfrm>
            <a:off x="689804" y="3496070"/>
            <a:ext cx="1842331" cy="2371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4F3335-FB0E-DFFD-618D-B402CFA2176A}"/>
              </a:ext>
            </a:extLst>
          </p:cNvPr>
          <p:cNvSpPr txBox="1"/>
          <p:nvPr/>
        </p:nvSpPr>
        <p:spPr>
          <a:xfrm>
            <a:off x="2533399" y="3405620"/>
            <a:ext cx="1526673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latin typeface="Univers Condensed"/>
              </a:rPr>
              <a:t>Base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point</a:t>
            </a:r>
            <a:r>
              <a:rPr lang="ko-KR" altLang="en-US" dirty="0">
                <a:latin typeface="Univers Condensed"/>
              </a:rPr>
              <a:t> 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327392-74CF-57D8-2F58-B480F91857BB}"/>
              </a:ext>
            </a:extLst>
          </p:cNvPr>
          <p:cNvSpPr txBox="1"/>
          <p:nvPr/>
        </p:nvSpPr>
        <p:spPr>
          <a:xfrm>
            <a:off x="7663307" y="1131807"/>
            <a:ext cx="301725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latin typeface="Univers Condensed"/>
              </a:rPr>
              <a:t>Explains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how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cooperation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can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affect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your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papers</a:t>
            </a:r>
            <a:r>
              <a:rPr lang="ko-KR" altLang="en-US" dirty="0">
                <a:latin typeface="Univers Condensed"/>
              </a:rPr>
              <a:t> and </a:t>
            </a:r>
            <a:r>
              <a:rPr lang="ko-KR" altLang="en-US" err="1">
                <a:latin typeface="Univers Condensed"/>
              </a:rPr>
              <a:t>models</a:t>
            </a:r>
            <a:br>
              <a:rPr lang="ko-KR" altLang="en-US" dirty="0">
                <a:latin typeface="Univers Condensed"/>
              </a:rPr>
            </a:br>
            <a:br>
              <a:rPr lang="ko-KR" altLang="en-US" dirty="0">
                <a:latin typeface="Univers Condensed"/>
              </a:rPr>
            </a:br>
            <a:r>
              <a:rPr lang="ko-KR" altLang="en-US" err="1">
                <a:latin typeface="Univers Condensed"/>
              </a:rPr>
              <a:t>Type</a:t>
            </a:r>
            <a:r>
              <a:rPr lang="ko-KR" altLang="en-US" dirty="0">
                <a:latin typeface="Univers Condensed"/>
              </a:rPr>
              <a:t> 1 : </a:t>
            </a:r>
            <a:r>
              <a:rPr lang="ko-KR" altLang="en-US" err="1">
                <a:latin typeface="Univers Condensed"/>
              </a:rPr>
              <a:t>Non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cooperative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event</a:t>
            </a:r>
            <a:br>
              <a:rPr lang="ko-KR" altLang="en-US" dirty="0">
                <a:latin typeface="Univers Condensed"/>
              </a:rPr>
            </a:br>
            <a:br>
              <a:rPr lang="ko-KR" altLang="en-US" dirty="0">
                <a:latin typeface="Univers Condensed"/>
              </a:rPr>
            </a:br>
            <a:r>
              <a:rPr lang="ko-KR" altLang="en-US" b="1" err="1">
                <a:latin typeface="Univers Condensed"/>
              </a:rPr>
              <a:t>Type</a:t>
            </a:r>
            <a:r>
              <a:rPr lang="ko-KR" altLang="en-US" b="1" dirty="0">
                <a:latin typeface="Univers Condensed"/>
              </a:rPr>
              <a:t> 2 : </a:t>
            </a:r>
            <a:r>
              <a:rPr lang="ko-KR" altLang="en-US" b="1" err="1">
                <a:latin typeface="Univers Condensed"/>
              </a:rPr>
              <a:t>Cooperative</a:t>
            </a:r>
            <a:r>
              <a:rPr lang="ko-KR" altLang="en-US" b="1" dirty="0">
                <a:latin typeface="Univers Condensed"/>
              </a:rPr>
              <a:t> </a:t>
            </a:r>
            <a:r>
              <a:rPr lang="ko-KR" altLang="en-US" b="1" err="1">
                <a:latin typeface="Univers Condensed"/>
              </a:rPr>
              <a:t>Event</a:t>
            </a:r>
            <a:endParaRPr lang="ko-KR" altLang="en-US" b="1">
              <a:latin typeface="Univers Condensed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D5161AB8-61C9-8263-7564-EE095BBFC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046186"/>
              </p:ext>
            </p:extLst>
          </p:nvPr>
        </p:nvGraphicFramePr>
        <p:xfrm>
          <a:off x="7660105" y="3161630"/>
          <a:ext cx="377678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097">
                  <a:extLst>
                    <a:ext uri="{9D8B030D-6E8A-4147-A177-3AD203B41FA5}">
                      <a16:colId xmlns:a16="http://schemas.microsoft.com/office/drawing/2014/main" val="2813852630"/>
                    </a:ext>
                  </a:extLst>
                </a:gridCol>
                <a:gridCol w="1228761">
                  <a:extLst>
                    <a:ext uri="{9D8B030D-6E8A-4147-A177-3AD203B41FA5}">
                      <a16:colId xmlns:a16="http://schemas.microsoft.com/office/drawing/2014/main" val="3694193898"/>
                    </a:ext>
                  </a:extLst>
                </a:gridCol>
                <a:gridCol w="1258928">
                  <a:extLst>
                    <a:ext uri="{9D8B030D-6E8A-4147-A177-3AD203B41FA5}">
                      <a16:colId xmlns:a16="http://schemas.microsoft.com/office/drawing/2014/main" val="2582088789"/>
                    </a:ext>
                  </a:extLst>
                </a:gridCol>
              </a:tblGrid>
              <a:tr h="806271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B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ko-KR" altLang="en-US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R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esource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&gt; 7 </a:t>
                      </a:r>
                      <a:endParaRPr lang="ko-KR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B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Resource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 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&lt;=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7</a:t>
                      </a:r>
                      <a:endParaRPr lang="ko-KR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618545"/>
                  </a:ext>
                </a:extLst>
              </a:tr>
              <a:tr h="8062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>
                          <a:latin typeface="Univers Condensed"/>
                        </a:rPr>
                        <a:t>A</a:t>
                      </a:r>
                      <a:r>
                        <a:rPr lang="ko-KR" altLang="en-US" dirty="0">
                          <a:latin typeface="Univers Condensed"/>
                        </a:rPr>
                        <a:t>  </a:t>
                      </a:r>
                      <a:r>
                        <a:rPr lang="ko-KR" altLang="en-US" err="1">
                          <a:latin typeface="Univers Condensed"/>
                        </a:rPr>
                        <a:t>resource</a:t>
                      </a:r>
                      <a:r>
                        <a:rPr lang="ko-KR" altLang="en-US" dirty="0">
                          <a:latin typeface="Univers Condensed"/>
                        </a:rPr>
                        <a:t> &gt; 7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>
                          <a:latin typeface="Univers Condensed"/>
                        </a:rPr>
                        <a:t>Both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earn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lot</a:t>
                      </a:r>
                      <a:endParaRPr lang="ko-KR" altLang="en-US" dirty="0" err="1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DEBF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>
                          <a:latin typeface="Univers Condensed"/>
                        </a:rPr>
                        <a:t>B</a:t>
                      </a:r>
                      <a:r>
                        <a:rPr lang="ko-KR" altLang="en-US" dirty="0">
                          <a:latin typeface="Univers Condensed"/>
                        </a:rPr>
                        <a:t>  </a:t>
                      </a:r>
                      <a:r>
                        <a:rPr lang="ko-KR" altLang="en-US" err="1">
                          <a:latin typeface="Univers Condensed"/>
                        </a:rPr>
                        <a:t>gains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a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lot</a:t>
                      </a:r>
                      <a:r>
                        <a:rPr lang="ko-KR" altLang="en-US" dirty="0">
                          <a:latin typeface="Univers Condensed"/>
                        </a:rPr>
                        <a:t>, </a:t>
                      </a:r>
                      <a:r>
                        <a:rPr lang="ko-KR" altLang="en-US" err="1">
                          <a:latin typeface="Univers Condensed"/>
                        </a:rPr>
                        <a:t>A</a:t>
                      </a:r>
                      <a:r>
                        <a:rPr lang="ko-KR" altLang="en-US" dirty="0">
                          <a:latin typeface="Univers Condensed"/>
                        </a:rPr>
                        <a:t> </a:t>
                      </a:r>
                      <a:r>
                        <a:rPr lang="ko-KR" altLang="en-US" err="1">
                          <a:latin typeface="Univers Condensed"/>
                        </a:rPr>
                        <a:t>loose</a:t>
                      </a:r>
                      <a:endParaRPr lang="ko-KR" altLang="en-US" dirty="0" err="1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2DE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046512"/>
                  </a:ext>
                </a:extLst>
              </a:tr>
              <a:tr h="8322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Univers Condensed"/>
                        </a:rPr>
                        <a:t>A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Resource &lt;=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 7 </a:t>
                      </a:r>
                      <a:endParaRPr lang="ko-KR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B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gains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a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lot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,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A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Univers Condensed"/>
                        </a:rPr>
                        <a:t>loose</a:t>
                      </a:r>
                      <a:endParaRPr lang="en-US" altLang="ko-KR" sz="1800" b="0" i="0" u="none" strike="noStrike" noProof="0">
                        <a:solidFill>
                          <a:srgbClr val="000000"/>
                        </a:solidFill>
                        <a:latin typeface="Univers Condensed"/>
                      </a:endParaRPr>
                    </a:p>
                    <a:p>
                      <a:pPr lvl="0">
                        <a:buNone/>
                      </a:pPr>
                      <a:endParaRPr lang="ko-KR" altLang="en-US" dirty="0"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CEF7BE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Both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 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Univers Condensed"/>
                        </a:rPr>
                        <a:t>loose</a:t>
                      </a:r>
                      <a:endParaRPr lang="ko-KR" sz="1800" b="0" i="0" u="none" strike="noStrike" noProof="0">
                        <a:solidFill>
                          <a:srgbClr val="000000"/>
                        </a:solidFill>
                        <a:latin typeface="Univers Condensed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70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856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DB9A2-C855-2988-E673-B4F3CB28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1DDFDAA8-9243-1152-3B69-0332CD555AE0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3_Cooperation</a:t>
            </a:r>
            <a:endParaRPr lang="ko-KR" dirty="0"/>
          </a:p>
        </p:txBody>
      </p: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E6C93B-ABAB-8E56-1AB9-93BF0593F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618" y="2827420"/>
            <a:ext cx="5028501" cy="31014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72BC5-188C-FACA-B273-7D94DEE69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81" y="975894"/>
            <a:ext cx="4362175" cy="34022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D1AEA0A-DC29-FFDD-B70B-9FDB970B099B}"/>
              </a:ext>
            </a:extLst>
          </p:cNvPr>
          <p:cNvSpPr/>
          <p:nvPr/>
        </p:nvSpPr>
        <p:spPr>
          <a:xfrm>
            <a:off x="5228383" y="5561491"/>
            <a:ext cx="2082961" cy="283906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712D9D-0727-8829-8F9D-641F29A3579A}"/>
              </a:ext>
            </a:extLst>
          </p:cNvPr>
          <p:cNvSpPr txBox="1"/>
          <p:nvPr/>
        </p:nvSpPr>
        <p:spPr>
          <a:xfrm>
            <a:off x="5215535" y="6337803"/>
            <a:ext cx="29637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b="1" dirty="0">
                <a:latin typeface="Univers Condensed"/>
                <a:ea typeface="+mn-lt"/>
                <a:cs typeface="+mn-lt"/>
              </a:rPr>
              <a:t>Move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on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to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the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next</a:t>
            </a:r>
            <a:r>
              <a:rPr lang="ko-KR" b="1" dirty="0">
                <a:latin typeface="Univers Condensed"/>
                <a:ea typeface="+mn-lt"/>
                <a:cs typeface="+mn-lt"/>
              </a:rPr>
              <a:t> </a:t>
            </a:r>
            <a:r>
              <a:rPr lang="en-US" altLang="ko-KR" b="1" dirty="0">
                <a:latin typeface="Univers Condensed"/>
                <a:ea typeface="+mn-lt"/>
                <a:cs typeface="+mn-lt"/>
              </a:rPr>
              <a:t>page</a:t>
            </a:r>
            <a:endParaRPr lang="ko-KR" altLang="en-US">
              <a:latin typeface="Univers Condensed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4BE699D-8759-EBD3-BE00-08F68AE7A179}"/>
              </a:ext>
            </a:extLst>
          </p:cNvPr>
          <p:cNvCxnSpPr>
            <a:cxnSpLocks/>
          </p:cNvCxnSpPr>
          <p:nvPr/>
        </p:nvCxnSpPr>
        <p:spPr>
          <a:xfrm>
            <a:off x="6028476" y="5851862"/>
            <a:ext cx="300894" cy="53859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AB7D5D-9966-8AD8-5182-7EACE7900B0B}"/>
              </a:ext>
            </a:extLst>
          </p:cNvPr>
          <p:cNvSpPr/>
          <p:nvPr/>
        </p:nvSpPr>
        <p:spPr>
          <a:xfrm>
            <a:off x="5221699" y="3790175"/>
            <a:ext cx="4903697" cy="798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EE6A85-4D6D-883B-9F56-366C501DFC9D}"/>
              </a:ext>
            </a:extLst>
          </p:cNvPr>
          <p:cNvSpPr/>
          <p:nvPr/>
        </p:nvSpPr>
        <p:spPr>
          <a:xfrm>
            <a:off x="5215014" y="4592280"/>
            <a:ext cx="2082961" cy="28390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F99BCA-F52E-D2D3-648F-8D69C11F9463}"/>
              </a:ext>
            </a:extLst>
          </p:cNvPr>
          <p:cNvSpPr/>
          <p:nvPr/>
        </p:nvSpPr>
        <p:spPr>
          <a:xfrm>
            <a:off x="689803" y="1276911"/>
            <a:ext cx="4362276" cy="5044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58BC18-C14F-3CA0-C3F7-D359952A4D6C}"/>
              </a:ext>
            </a:extLst>
          </p:cNvPr>
          <p:cNvSpPr txBox="1"/>
          <p:nvPr/>
        </p:nvSpPr>
        <p:spPr>
          <a:xfrm>
            <a:off x="9207736" y="2218938"/>
            <a:ext cx="230872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latin typeface="Univers Condensed"/>
              </a:rPr>
              <a:t>This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pops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up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after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you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select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joint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project</a:t>
            </a:r>
            <a:r>
              <a:rPr lang="ko-KR" altLang="en-US" dirty="0">
                <a:latin typeface="Univers Condensed"/>
              </a:rPr>
              <a:t> and </a:t>
            </a:r>
            <a:r>
              <a:rPr lang="ko-KR" altLang="en-US" b="1" err="1">
                <a:latin typeface="Univers Condensed"/>
              </a:rPr>
              <a:t>update</a:t>
            </a:r>
            <a:r>
              <a:rPr lang="ko-KR" altLang="en-US" b="1" dirty="0">
                <a:latin typeface="Univers Condensed"/>
              </a:rPr>
              <a:t> </a:t>
            </a:r>
            <a:r>
              <a:rPr lang="ko-KR" altLang="en-US" b="1" err="1">
                <a:latin typeface="Univers Condensed"/>
              </a:rPr>
              <a:t>agreement</a:t>
            </a:r>
            <a:endParaRPr lang="ko-KR" altLang="en-US" b="1">
              <a:latin typeface="Univers Condensed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20F22E8-9F1D-795C-608C-8DD448CF5392}"/>
              </a:ext>
            </a:extLst>
          </p:cNvPr>
          <p:cNvCxnSpPr>
            <a:cxnSpLocks/>
          </p:cNvCxnSpPr>
          <p:nvPr/>
        </p:nvCxnSpPr>
        <p:spPr>
          <a:xfrm flipV="1">
            <a:off x="9958792" y="3155298"/>
            <a:ext cx="374420" cy="664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7A49AAF-63FD-C3F0-F5BD-5D3346A01A0C}"/>
              </a:ext>
            </a:extLst>
          </p:cNvPr>
          <p:cNvCxnSpPr>
            <a:cxnSpLocks/>
          </p:cNvCxnSpPr>
          <p:nvPr/>
        </p:nvCxnSpPr>
        <p:spPr>
          <a:xfrm flipV="1">
            <a:off x="5052581" y="1383981"/>
            <a:ext cx="521473" cy="136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C2FA85-956A-E488-9680-9FB63521962B}"/>
              </a:ext>
            </a:extLst>
          </p:cNvPr>
          <p:cNvSpPr txBox="1"/>
          <p:nvPr/>
        </p:nvSpPr>
        <p:spPr>
          <a:xfrm>
            <a:off x="5566611" y="1181768"/>
            <a:ext cx="43674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latin typeface="Univers Condensed"/>
              </a:rPr>
              <a:t>Choose</a:t>
            </a:r>
            <a:r>
              <a:rPr lang="ko-KR" dirty="0">
                <a:latin typeface="Univers Condensed"/>
              </a:rPr>
              <a:t> </a:t>
            </a:r>
            <a:r>
              <a:rPr lang="en-US" altLang="ko-KR" dirty="0">
                <a:latin typeface="Univers Condensed"/>
              </a:rPr>
              <a:t>the</a:t>
            </a:r>
            <a:r>
              <a:rPr lang="ko-KR" dirty="0">
                <a:latin typeface="Univers Condensed"/>
              </a:rPr>
              <a:t> </a:t>
            </a:r>
            <a:r>
              <a:rPr lang="en-US" altLang="ko-KR" dirty="0">
                <a:latin typeface="Univers Condensed"/>
              </a:rPr>
              <a:t>country to negotiate with</a:t>
            </a:r>
            <a:endParaRPr lang="ko-KR" b="1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546871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525BB-2798-BB8D-DCC4-642619DCC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0B978223-B252-BB69-243C-1F735C6EA63B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3_Cooperation</a:t>
            </a:r>
            <a:endParaRPr lang="ko-KR" dirty="0"/>
          </a:p>
        </p:txBody>
      </p:sp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C652BA-9093-AE1B-CA73-D4A22C8B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468" y="3348372"/>
            <a:ext cx="6673015" cy="1972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 descr="텍스트, 폰트, 스크린샷, 명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3B23F2-B058-597E-B27D-B50D1BDB7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222" y="1874671"/>
            <a:ext cx="6676190" cy="11892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F2F986-F370-5C9C-BF99-2D4D6C96E7CF}"/>
              </a:ext>
            </a:extLst>
          </p:cNvPr>
          <p:cNvSpPr txBox="1"/>
          <p:nvPr/>
        </p:nvSpPr>
        <p:spPr>
          <a:xfrm>
            <a:off x="1211934" y="22862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latin typeface="Univers Condensed"/>
              </a:rPr>
              <a:t>If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all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agreements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are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met</a:t>
            </a:r>
            <a:r>
              <a:rPr lang="ko-KR" altLang="en-US" dirty="0">
                <a:latin typeface="Univers Condensed"/>
              </a:rPr>
              <a:t>...</a:t>
            </a:r>
            <a:endParaRPr lang="ko-KR">
              <a:latin typeface="Univers Condense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AB6F-AA8A-0B4D-D99E-FB117AA359E6}"/>
              </a:ext>
            </a:extLst>
          </p:cNvPr>
          <p:cNvSpPr txBox="1"/>
          <p:nvPr/>
        </p:nvSpPr>
        <p:spPr>
          <a:xfrm>
            <a:off x="3030039" y="404422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Univers Condensed"/>
              </a:rPr>
              <a:t>If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not</a:t>
            </a:r>
            <a:r>
              <a:rPr lang="ko-KR" altLang="en-US" dirty="0">
                <a:latin typeface="Univers Condensed"/>
              </a:rPr>
              <a:t> ...</a:t>
            </a:r>
            <a:endParaRPr lang="ko-KR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293658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6B29A-58A0-7337-D8B4-F5CA65F8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30F37A95-F263-978A-96AC-3ACE683CE2AB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4_Event</a:t>
            </a:r>
            <a:endParaRPr lang="ko-KR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504523-59E8-AF3B-141A-4FFA5BD8A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09" y="1998580"/>
            <a:ext cx="3880879" cy="2867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4E65E1-58F2-8360-2C3F-63EE240BB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426" y="4624721"/>
            <a:ext cx="2271463" cy="11979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A5352F-D482-EDE2-A44C-4F5B51BF5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455" y="1965158"/>
            <a:ext cx="4478828" cy="36896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1760EE-C9E4-325E-40F7-CD60605708E4}"/>
              </a:ext>
            </a:extLst>
          </p:cNvPr>
          <p:cNvSpPr txBox="1"/>
          <p:nvPr/>
        </p:nvSpPr>
        <p:spPr>
          <a:xfrm>
            <a:off x="757783" y="6315334"/>
            <a:ext cx="109732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latin typeface="Univers Condensed"/>
                <a:ea typeface="Malgun Gothic"/>
                <a:cs typeface="+mn-lt"/>
              </a:rPr>
              <a:t>Roll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altLang="ko-KR" dirty="0">
                <a:latin typeface="Univers Condensed"/>
                <a:ea typeface="Malgun Gothic"/>
                <a:cs typeface="+mn-lt"/>
              </a:rPr>
              <a:t>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(D2) Domestic event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 </a:t>
            </a:r>
            <a:r>
              <a:rPr lang="en-US" dirty="0">
                <a:latin typeface="Calisto MT"/>
                <a:ea typeface="Malgun Gothic"/>
                <a:cs typeface="+mn-lt"/>
              </a:rPr>
              <a:t>→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Investigate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 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Policy Revision </a:t>
            </a:r>
            <a:r>
              <a:rPr lang="en-US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(I2) International event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altLang="ko-KR" dirty="0">
                <a:latin typeface="Univers Condensed"/>
                <a:ea typeface="Malgun Gothic"/>
                <a:cs typeface="+mn-lt"/>
              </a:rPr>
              <a:t>Summary</a:t>
            </a:r>
            <a:endParaRPr lang="en-US" dirty="0">
              <a:latin typeface="Calisto MT"/>
              <a:ea typeface="Malgun Gothic"/>
              <a:cs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F6C21-2218-8503-5DE6-4E21361520CE}"/>
              </a:ext>
            </a:extLst>
          </p:cNvPr>
          <p:cNvSpPr txBox="1"/>
          <p:nvPr/>
        </p:nvSpPr>
        <p:spPr>
          <a:xfrm>
            <a:off x="957935" y="1317072"/>
            <a:ext cx="37525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Univers Condensed"/>
              </a:rPr>
              <a:t>Roll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the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dice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to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determine</a:t>
            </a:r>
            <a:r>
              <a:rPr lang="ko-KR" altLang="en-US" dirty="0">
                <a:latin typeface="Univers Condensed"/>
              </a:rPr>
              <a:t> </a:t>
            </a:r>
            <a:br>
              <a:rPr lang="ko-KR" altLang="en-US" dirty="0">
                <a:latin typeface="Univers Condensed"/>
              </a:rPr>
            </a:br>
            <a:r>
              <a:rPr lang="ko-KR" altLang="en-US" dirty="0" err="1">
                <a:latin typeface="Univers Condensed"/>
              </a:rPr>
              <a:t>your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second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Domestic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event</a:t>
            </a:r>
            <a:endParaRPr lang="ko-KR" altLang="en-US" dirty="0">
              <a:latin typeface="Univers Condensed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4A13294-83DA-E56A-7C22-757B08CC3314}"/>
              </a:ext>
            </a:extLst>
          </p:cNvPr>
          <p:cNvCxnSpPr/>
          <p:nvPr/>
        </p:nvCxnSpPr>
        <p:spPr>
          <a:xfrm flipH="1">
            <a:off x="5373858" y="1281518"/>
            <a:ext cx="16521" cy="464740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EE8A857-224C-0F06-FED3-9633C8CEDFD5}"/>
              </a:ext>
            </a:extLst>
          </p:cNvPr>
          <p:cNvSpPr txBox="1"/>
          <p:nvPr/>
        </p:nvSpPr>
        <p:spPr>
          <a:xfrm>
            <a:off x="5710408" y="1283650"/>
            <a:ext cx="37525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Univers Condensed"/>
              </a:rPr>
              <a:t>Investigate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what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others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chose</a:t>
            </a:r>
            <a:r>
              <a:rPr lang="ko-KR" altLang="en-US" dirty="0">
                <a:latin typeface="Univers Condensed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417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A8B37-2AD9-5EC2-D67E-385E48DD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B94CBAF8-9C44-60A4-5DE1-5D49A179139E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4_Event</a:t>
            </a:r>
            <a:endParaRPr 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05232-739C-A42C-2223-6ECC815305A2}"/>
              </a:ext>
            </a:extLst>
          </p:cNvPr>
          <p:cNvSpPr txBox="1"/>
          <p:nvPr/>
        </p:nvSpPr>
        <p:spPr>
          <a:xfrm>
            <a:off x="757783" y="6315334"/>
            <a:ext cx="109732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>
                <a:latin typeface="Univers Condensed"/>
                <a:ea typeface="Malgun Gothic"/>
                <a:cs typeface="+mn-lt"/>
              </a:rPr>
              <a:t>Roll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altLang="ko-KR" dirty="0">
                <a:latin typeface="Univers Condensed"/>
                <a:ea typeface="Malgun Gothic"/>
                <a:cs typeface="+mn-lt"/>
              </a:rPr>
              <a:t>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(D2) Domestic event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 </a:t>
            </a:r>
            <a:r>
              <a:rPr lang="en-US" dirty="0">
                <a:latin typeface="Calisto MT"/>
                <a:ea typeface="Malgun Gothic"/>
                <a:cs typeface="+mn-lt"/>
              </a:rPr>
              <a:t>→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Investigate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 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altLang="ko-KR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Policy Revision </a:t>
            </a:r>
            <a:r>
              <a:rPr lang="en-US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dirty="0">
                <a:solidFill>
                  <a:srgbClr val="C00000"/>
                </a:solidFill>
                <a:latin typeface="Univers Condensed"/>
                <a:ea typeface="Malgun Gothic"/>
                <a:cs typeface="+mn-lt"/>
              </a:rPr>
              <a:t>(I2) International event</a:t>
            </a:r>
            <a:r>
              <a:rPr lang="en-US" altLang="ko-KR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solidFill>
                  <a:srgbClr val="FF0000"/>
                </a:solidFill>
                <a:latin typeface="Univers Condensed"/>
                <a:ea typeface="Malgun Gothic"/>
                <a:cs typeface="+mn-lt"/>
              </a:rPr>
              <a:t> </a:t>
            </a:r>
            <a:r>
              <a:rPr lang="en-US" dirty="0">
                <a:latin typeface="Calisto MT"/>
                <a:ea typeface="Malgun Gothic"/>
                <a:cs typeface="+mn-lt"/>
              </a:rPr>
              <a:t>→</a:t>
            </a:r>
            <a:r>
              <a:rPr lang="en-US" dirty="0">
                <a:solidFill>
                  <a:srgbClr val="FF0000"/>
                </a:solidFill>
                <a:latin typeface="Calisto MT"/>
                <a:ea typeface="Malgun Gothic"/>
                <a:cs typeface="+mn-lt"/>
              </a:rPr>
              <a:t> </a:t>
            </a:r>
            <a:r>
              <a:rPr lang="en-US" altLang="ko-KR" dirty="0">
                <a:latin typeface="Univers Condensed"/>
                <a:ea typeface="Malgun Gothic"/>
                <a:cs typeface="+mn-lt"/>
              </a:rPr>
              <a:t>Summary</a:t>
            </a:r>
            <a:endParaRPr lang="en-US" dirty="0">
              <a:latin typeface="Calisto MT"/>
              <a:ea typeface="Malgun Gothic"/>
              <a:cs typeface="+mn-lt"/>
            </a:endParaRPr>
          </a:p>
        </p:txBody>
      </p: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722512-AFF8-E99F-406A-823D83C0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398" y="1989388"/>
            <a:ext cx="5064628" cy="24113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42535C-9B9A-A345-CF93-B67D7A8E2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18" y="1986046"/>
            <a:ext cx="5051258" cy="23979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1DFE35-C8CD-4E22-CB3A-67F988640501}"/>
              </a:ext>
            </a:extLst>
          </p:cNvPr>
          <p:cNvSpPr txBox="1"/>
          <p:nvPr/>
        </p:nvSpPr>
        <p:spPr>
          <a:xfrm>
            <a:off x="957935" y="1317072"/>
            <a:ext cx="37525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Univers Condensed"/>
              </a:rPr>
              <a:t>Adjust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your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policy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B8C4BDA-DC92-0FDE-D584-67755DAFD8C2}"/>
              </a:ext>
            </a:extLst>
          </p:cNvPr>
          <p:cNvCxnSpPr/>
          <p:nvPr/>
        </p:nvCxnSpPr>
        <p:spPr>
          <a:xfrm flipH="1">
            <a:off x="6048963" y="1281518"/>
            <a:ext cx="16521" cy="464740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1C045E6-B625-C576-F52A-EE40344277E3}"/>
              </a:ext>
            </a:extLst>
          </p:cNvPr>
          <p:cNvSpPr txBox="1"/>
          <p:nvPr/>
        </p:nvSpPr>
        <p:spPr>
          <a:xfrm>
            <a:off x="6311987" y="1343808"/>
            <a:ext cx="37525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Univers Condensed"/>
              </a:rPr>
              <a:t>Second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international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2235351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A1B5E-A996-49A4-F487-F562D4C4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59EC98FD-FF53-7743-DA12-1E3D72FCC0A8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5_Summary</a:t>
            </a:r>
            <a:endParaRPr lang="ko-KR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9062F2-B982-A9C2-E9E1-FA5A07DE0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63" y="2170176"/>
            <a:ext cx="4300809" cy="31272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6E7B12-DBF4-31A1-0148-8A681CEEB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987" y="4221480"/>
            <a:ext cx="3976497" cy="17739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56A87D-4DAF-23CD-5735-E50AD450D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511" y="1223772"/>
            <a:ext cx="3979535" cy="2865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D6D690-A06A-F003-26D4-BC9B6A042563}"/>
              </a:ext>
            </a:extLst>
          </p:cNvPr>
          <p:cNvSpPr txBox="1"/>
          <p:nvPr/>
        </p:nvSpPr>
        <p:spPr>
          <a:xfrm>
            <a:off x="6120567" y="177677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latin typeface="Univers Condensed"/>
              </a:rPr>
              <a:t>Some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hints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for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the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results</a:t>
            </a:r>
            <a:endParaRPr lang="ko-KR" altLang="en-US">
              <a:latin typeface="Univers Condense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38E65-9078-7450-C178-20689B314890}"/>
              </a:ext>
            </a:extLst>
          </p:cNvPr>
          <p:cNvSpPr txBox="1"/>
          <p:nvPr/>
        </p:nvSpPr>
        <p:spPr>
          <a:xfrm>
            <a:off x="5777972" y="3629139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6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68057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82A8D-1E0B-580B-30B3-C5899665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F32C7220-B06A-EA68-13D2-D77535EF4BF5}"/>
              </a:ext>
            </a:extLst>
          </p:cNvPr>
          <p:cNvSpPr txBox="1"/>
          <p:nvPr/>
        </p:nvSpPr>
        <p:spPr>
          <a:xfrm>
            <a:off x="758536" y="241559"/>
            <a:ext cx="395020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5_Summary</a:t>
            </a:r>
            <a:endParaRPr lang="ko-KR" dirty="0"/>
          </a:p>
        </p:txBody>
      </p:sp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984A03-C46F-1006-78AC-3A53FA2EB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233" y="1713738"/>
            <a:ext cx="6941439" cy="28514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A3F489-880F-1CD5-2BB0-F03756D2A716}"/>
              </a:ext>
            </a:extLst>
          </p:cNvPr>
          <p:cNvSpPr txBox="1"/>
          <p:nvPr/>
        </p:nvSpPr>
        <p:spPr>
          <a:xfrm>
            <a:off x="1638595" y="4762991"/>
            <a:ext cx="9765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 err="1">
                <a:latin typeface="Univers Condensed"/>
                <a:ea typeface="+mn-lt"/>
                <a:cs typeface="+mn-lt"/>
              </a:rPr>
              <a:t>Please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save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your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history</a:t>
            </a:r>
            <a:r>
              <a:rPr lang="ko-KR" dirty="0">
                <a:latin typeface="Univers Condensed"/>
                <a:ea typeface="+mn-lt"/>
                <a:cs typeface="+mn-lt"/>
              </a:rPr>
              <a:t> and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press</a:t>
            </a:r>
            <a:r>
              <a:rPr lang="ko-KR" dirty="0">
                <a:latin typeface="Univers Condensed"/>
                <a:ea typeface="+mn-lt"/>
                <a:cs typeface="+mn-lt"/>
              </a:rPr>
              <a:t> '</a:t>
            </a:r>
            <a:r>
              <a:rPr lang="ko-KR" dirty="0" err="1">
                <a:latin typeface="Univers Condensed"/>
                <a:ea typeface="+mn-lt"/>
                <a:cs typeface="+mn-lt"/>
              </a:rPr>
              <a:t>Start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Next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Round</a:t>
            </a:r>
            <a:r>
              <a:rPr lang="ko-KR" dirty="0">
                <a:latin typeface="Univers Condensed"/>
                <a:ea typeface="+mn-lt"/>
                <a:cs typeface="+mn-lt"/>
              </a:rPr>
              <a:t>.'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You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will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be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sent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back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to</a:t>
            </a:r>
            <a:r>
              <a:rPr lang="ko-KR" dirty="0"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Phase</a:t>
            </a:r>
            <a:r>
              <a:rPr lang="ko-KR" dirty="0">
                <a:latin typeface="Univers Condensed"/>
                <a:ea typeface="+mn-lt"/>
                <a:cs typeface="+mn-lt"/>
              </a:rPr>
              <a:t> 1: </a:t>
            </a:r>
            <a:r>
              <a:rPr lang="ko-KR" dirty="0" err="1">
                <a:latin typeface="Univers Condensed"/>
                <a:ea typeface="+mn-lt"/>
                <a:cs typeface="+mn-lt"/>
              </a:rPr>
              <a:t>Circumstance</a:t>
            </a:r>
            <a:r>
              <a:rPr lang="ko-KR" dirty="0">
                <a:latin typeface="Univers Condensed"/>
                <a:ea typeface="+mn-lt"/>
                <a:cs typeface="+mn-lt"/>
              </a:rPr>
              <a:t>.</a:t>
            </a:r>
            <a:endParaRPr lang="ko-KR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99233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095DB-F337-5C9E-BE21-7EB192DB5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FF21E-4091-4DD2-AE9B-E744FDFB0FD3}" type="datetime1">
              <a:t>8/4/2025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310E16-7ED8-595C-C2EC-4D4C8890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91A01-F47B-7F91-7F37-4E20F9008741}"/>
              </a:ext>
            </a:extLst>
          </p:cNvPr>
          <p:cNvSpPr txBox="1"/>
          <p:nvPr/>
        </p:nvSpPr>
        <p:spPr>
          <a:xfrm>
            <a:off x="4044275" y="2387997"/>
            <a:ext cx="410870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7200" dirty="0" err="1">
                <a:latin typeface="Univers Condensed"/>
              </a:rPr>
              <a:t>Questions</a:t>
            </a:r>
            <a:endParaRPr lang="ko-KR" altLang="en-US" sz="72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4472327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ChronicleVTI</vt:lpstr>
      <vt:lpstr>SRT AI Session Game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1179</cp:revision>
  <dcterms:created xsi:type="dcterms:W3CDTF">2025-08-04T04:50:43Z</dcterms:created>
  <dcterms:modified xsi:type="dcterms:W3CDTF">2025-08-04T07:31:35Z</dcterms:modified>
</cp:coreProperties>
</file>